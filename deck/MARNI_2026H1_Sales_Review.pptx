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4" r:id="rId1"/>
  </p:sldMasterIdLst>
  <p:notesMasterIdLst>
    <p:notesMasterId r:id="rId12"/>
  </p:notesMasterIdLst>
  <p:sldIdLst>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前年差（百万円）</c:v>
                </c:pt>
              </c:strCache>
            </c:strRef>
          </c:tx>
          <c:spPr>
            <a:solidFill>
              <a:srgbClr val="DA1212"/>
            </a:solidFill>
          </c:spPr>
          <c:cat>
            <c:strRef>
              <c:f>Sheet1!$A$2:$A$4</c:f>
              <c:strCache>
                <c:ptCount val="3"/>
                <c:pt idx="0">
                  <c:v>客数（TR）要因</c:v>
                </c:pt>
                <c:pt idx="1">
                  <c:v>客単価（ATV）要因</c:v>
                </c:pt>
                <c:pt idx="2">
                  <c:v>差引</c:v>
                </c:pt>
              </c:strCache>
            </c:strRef>
          </c:cat>
          <c:val>
            <c:numRef>
              <c:f>Sheet1!$B$2:$B$4</c:f>
              <c:numCache>
                <c:formatCode>General</c:formatCode>
                <c:ptCount val="3"/>
                <c:pt idx="0">
                  <c:v>-239.0</c:v>
                </c:pt>
                <c:pt idx="1">
                  <c:v>246.0</c:v>
                </c:pt>
                <c:pt idx="2">
                  <c:v>7.0</c:v>
                </c:pt>
              </c:numCache>
            </c:numRef>
          </c:val>
        </c:ser>
        <c:gapWidth val="80"/>
        <c:axId val="-2068027336"/>
        <c:axId val="-2113994440"/>
      </c:barChart>
      <c:catAx>
        <c:axId val="-2068027336"/>
        <c:scaling>
          <c:orientation val="minMax"/>
        </c:scaling>
        <c:delete val="0"/>
        <c:axPos val="b"/>
        <c:majorTickMark val="out"/>
        <c:minorTickMark val="none"/>
        <c:tickLblPos val="low"/>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前年差（百万円）</c:v>
                </c:pt>
              </c:strCache>
            </c:strRef>
          </c:tx>
          <c:spPr>
            <a:solidFill>
              <a:srgbClr val="DA1212"/>
            </a:solidFill>
          </c:spPr>
          <c:cat>
            <c:strRef>
              <c:f>Sheet1!$A$2:$A$3</c:f>
              <c:strCache>
                <c:ptCount val="2"/>
                <c:pt idx="0">
                  <c:v>買上点数（UPT）要因</c:v>
                </c:pt>
                <c:pt idx="1">
                  <c:v>1点単価（AP）要因</c:v>
                </c:pt>
              </c:strCache>
            </c:strRef>
          </c:cat>
          <c:val>
            <c:numRef>
              <c:f>Sheet1!$B$2:$B$3</c:f>
              <c:numCache>
                <c:formatCode>General</c:formatCode>
                <c:ptCount val="2"/>
                <c:pt idx="0">
                  <c:v>47.1</c:v>
                </c:pt>
                <c:pt idx="1">
                  <c:v>191.4</c:v>
                </c:pt>
              </c:numCache>
            </c:numRef>
          </c:val>
        </c:ser>
        <c:gapWidth val="80"/>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2025年 上期（百万円）</c:v>
                </c:pt>
              </c:strCache>
            </c:strRef>
          </c:tx>
          <c:spPr>
            <a:solidFill>
              <a:srgbClr val="DA1212"/>
            </a:solidFill>
          </c:spPr>
          <c:cat>
            <c:strRef>
              <c:f>Sheet1!$A$2:$A$3</c:f>
              <c:strCache>
                <c:ptCount val="2"/>
                <c:pt idx="0">
                  <c:v>プロパー（FP）売上</c:v>
                </c:pt>
                <c:pt idx="1">
                  <c:v>セール（MD）売上</c:v>
                </c:pt>
              </c:strCache>
            </c:strRef>
          </c:cat>
          <c:val>
            <c:numRef>
              <c:f>Sheet1!$B$2:$B$3</c:f>
              <c:numCache>
                <c:formatCode>General</c:formatCode>
                <c:ptCount val="2"/>
                <c:pt idx="0">
                  <c:v>1884</c:v>
                </c:pt>
                <c:pt idx="1">
                  <c:v>332</c:v>
                </c:pt>
              </c:numCache>
            </c:numRef>
          </c:val>
        </c:ser>
        <c:ser>
          <c:idx val="1"/>
          <c:order val="1"/>
          <c:tx>
            <c:strRef>
              <c:f>Sheet1!$C$1</c:f>
              <c:strCache>
                <c:ptCount val="1"/>
                <c:pt idx="0">
                  <c:v>2026年 上期（百万円）</c:v>
                </c:pt>
              </c:strCache>
            </c:strRef>
          </c:tx>
          <c:spPr>
            <a:solidFill>
              <a:srgbClr val="000000"/>
            </a:solidFill>
          </c:spPr>
          <c:cat>
            <c:strRef>
              <c:f>Sheet1!$A$2:$A$3</c:f>
              <c:strCache>
                <c:ptCount val="2"/>
                <c:pt idx="0">
                  <c:v>プロパー（FP）売上</c:v>
                </c:pt>
                <c:pt idx="1">
                  <c:v>セール（MD）売上</c:v>
                </c:pt>
              </c:strCache>
            </c:strRef>
          </c:cat>
          <c:val>
            <c:numRef>
              <c:f>Sheet1!$C$2:$C$3</c:f>
              <c:numCache>
                <c:formatCode>General</c:formatCode>
                <c:ptCount val="2"/>
                <c:pt idx="0">
                  <c:v>1770</c:v>
                </c:pt>
                <c:pt idx="1">
                  <c:v>453</c:v>
                </c:pt>
              </c:numCache>
            </c:numRef>
          </c:val>
        </c:ser>
        <c:gapWidth val="80"/>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900"/>
          </a:pPr>
        </a:p>
      </c:txPr>
    </c:legend>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2025年（百万円）</c:v>
                </c:pt>
              </c:strCache>
            </c:strRef>
          </c:tx>
          <c:spPr>
            <a:ln w="25400">
              <a:solidFill>
                <a:srgbClr val="DA1212"/>
              </a:solidFill>
            </a:ln>
          </c:spPr>
          <c:marker>
            <c:spPr>
              <a:solidFill>
                <a:srgbClr val="DA1212"/>
              </a:solidFill>
              <a:ln>
                <a:noFill/>
              </a:ln>
            </c:spPr>
          </c:marker>
          <c:cat>
            <c:strRef>
              <c:f>Sheet1!$A$2:$A$7</c:f>
              <c:strCache>
                <c:ptCount val="6"/>
                <c:pt idx="0">
                  <c:v>1月</c:v>
                </c:pt>
                <c:pt idx="1">
                  <c:v>2月</c:v>
                </c:pt>
                <c:pt idx="2">
                  <c:v>3月</c:v>
                </c:pt>
                <c:pt idx="3">
                  <c:v>4月</c:v>
                </c:pt>
                <c:pt idx="4">
                  <c:v>5月</c:v>
                </c:pt>
                <c:pt idx="5">
                  <c:v>6月</c:v>
                </c:pt>
              </c:strCache>
            </c:strRef>
          </c:cat>
          <c:val>
            <c:numRef>
              <c:f>Sheet1!$B$2:$B$7</c:f>
              <c:numCache>
                <c:formatCode>General</c:formatCode>
                <c:ptCount val="6"/>
                <c:pt idx="0">
                  <c:v>398.8</c:v>
                </c:pt>
                <c:pt idx="1">
                  <c:v>335.4</c:v>
                </c:pt>
                <c:pt idx="2">
                  <c:v>378.9</c:v>
                </c:pt>
                <c:pt idx="3">
                  <c:v>333.1</c:v>
                </c:pt>
                <c:pt idx="4">
                  <c:v>317.3</c:v>
                </c:pt>
                <c:pt idx="5">
                  <c:v>452.5</c:v>
                </c:pt>
              </c:numCache>
            </c:numRef>
          </c:val>
          <c:smooth val="0"/>
        </c:ser>
        <c:ser>
          <c:idx val="1"/>
          <c:order val="1"/>
          <c:tx>
            <c:strRef>
              <c:f>Sheet1!$C$1</c:f>
              <c:strCache>
                <c:ptCount val="1"/>
                <c:pt idx="0">
                  <c:v>2026年（百万円）</c:v>
                </c:pt>
              </c:strCache>
            </c:strRef>
          </c:tx>
          <c:spPr>
            <a:ln w="25400">
              <a:solidFill>
                <a:srgbClr val="000000"/>
              </a:solidFill>
            </a:ln>
          </c:spPr>
          <c:marker>
            <c:spPr>
              <a:solidFill>
                <a:srgbClr val="000000"/>
              </a:solidFill>
              <a:ln>
                <a:noFill/>
              </a:ln>
            </c:spPr>
          </c:marker>
          <c:cat>
            <c:strRef>
              <c:f>Sheet1!$A$2:$A$7</c:f>
              <c:strCache>
                <c:ptCount val="6"/>
                <c:pt idx="0">
                  <c:v>1月</c:v>
                </c:pt>
                <c:pt idx="1">
                  <c:v>2月</c:v>
                </c:pt>
                <c:pt idx="2">
                  <c:v>3月</c:v>
                </c:pt>
                <c:pt idx="3">
                  <c:v>4月</c:v>
                </c:pt>
                <c:pt idx="4">
                  <c:v>5月</c:v>
                </c:pt>
                <c:pt idx="5">
                  <c:v>6月</c:v>
                </c:pt>
              </c:strCache>
            </c:strRef>
          </c:cat>
          <c:val>
            <c:numRef>
              <c:f>Sheet1!$C$2:$C$7</c:f>
              <c:numCache>
                <c:formatCode>General</c:formatCode>
                <c:ptCount val="6"/>
                <c:pt idx="0">
                  <c:v>433.5</c:v>
                </c:pt>
                <c:pt idx="1">
                  <c:v>324.9</c:v>
                </c:pt>
                <c:pt idx="2">
                  <c:v>378.5</c:v>
                </c:pt>
                <c:pt idx="3">
                  <c:v>298.5</c:v>
                </c:pt>
                <c:pt idx="4">
                  <c:v>325.4</c:v>
                </c:pt>
                <c:pt idx="5">
                  <c:v>462.2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900"/>
            </a:pPr>
          </a:p>
        </c:txPr>
        <c:crossAx val="2140495176"/>
        <c:crosses val="autoZero"/>
        <c:auto val="1"/>
        <c:lblAlgn val="ctr"/>
        <c:lblOffset val="100"/>
        <c:noMultiLvlLbl val="0"/>
      </c:catAx>
      <c:valAx>
        <c:axId val="2140495176"/>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118791784"/>
        <c:crosses val="autoZero"/>
      </c:valAx>
    </c:plotArea>
    <c:legend>
      <c:legendPos val="b"/>
      <c:layout/>
      <c:overlay val="0"/>
      <c:txPr>
        <a:bodyPr/>
        <a:lstStyle/>
        <a:p>
          <a:pPr>
            <a:defRPr sz="900"/>
          </a:pPr>
        </a:p>
      </c:txPr>
    </c:legend>
    <c:plotVisOnly val="1"/>
    <c:dispBlanksAs val="gap"/>
    <c:showDLblsOverMax val="0"/>
  </c:chart>
  <c:txPr>
    <a:bodyPr/>
    <a:lstStyle/>
    <a:p>
      <a:pPr>
        <a:defRPr sz="900">
          <a:solidFill>
            <a:srgbClr val="000000"/>
          </a:solidFill>
          <a:latin typeface="Helvetica Neue"/>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Net売上 前年比（%）</c:v>
                </c:pt>
              </c:strCache>
            </c:strRef>
          </c:tx>
          <c:spPr>
            <a:solidFill>
              <a:srgbClr val="DA1212"/>
            </a:solidFill>
          </c:spPr>
          <c:cat>
            <c:strRef>
              <c:f>Sheet1!$A$2:$A$9</c:f>
              <c:strCache>
                <c:ptCount val="8"/>
                <c:pt idx="0">
                  <c:v>梅田阪急ドンナ</c:v>
                </c:pt>
                <c:pt idx="1">
                  <c:v>心斎橋大丸</c:v>
                </c:pt>
                <c:pt idx="2">
                  <c:v>大阪高島屋</c:v>
                </c:pt>
                <c:pt idx="3">
                  <c:v>名古屋松坂屋</c:v>
                </c:pt>
                <c:pt idx="4">
                  <c:v>新宿伊勢丹ウォモ</c:v>
                </c:pt>
                <c:pt idx="5">
                  <c:v>渋谷スクランブル</c:v>
                </c:pt>
                <c:pt idx="6">
                  <c:v>京都伊勢丹ACC</c:v>
                </c:pt>
                <c:pt idx="7">
                  <c:v>京都BAL</c:v>
                </c:pt>
              </c:strCache>
            </c:strRef>
          </c:cat>
          <c:val>
            <c:numRef>
              <c:f>Sheet1!$B$2:$B$9</c:f>
              <c:numCache>
                <c:formatCode>General</c:formatCode>
                <c:ptCount val="8"/>
                <c:pt idx="0">
                  <c:v>31.9</c:v>
                </c:pt>
                <c:pt idx="1">
                  <c:v>19.3</c:v>
                </c:pt>
                <c:pt idx="2">
                  <c:v>17.1</c:v>
                </c:pt>
                <c:pt idx="3">
                  <c:v>7.7</c:v>
                </c:pt>
                <c:pt idx="4">
                  <c:v>6.7</c:v>
                </c:pt>
                <c:pt idx="5">
                  <c:v>-20.8</c:v>
                </c:pt>
                <c:pt idx="6">
                  <c:v>-24.9</c:v>
                </c:pt>
                <c:pt idx="7">
                  <c:v>-38.6</c:v>
                </c:pt>
              </c:numCache>
            </c:numRef>
          </c:val>
        </c:ser>
        <c:gapWidth val="80"/>
        <c:axId val="-2068027336"/>
        <c:axId val="-2113994440"/>
      </c:barChart>
      <c:catAx>
        <c:axId val="-2068027336"/>
        <c:scaling>
          <c:orientation val="minMax"/>
        </c:scaling>
        <c:delete val="0"/>
        <c:axPos val="l"/>
        <c:majorTickMark val="out"/>
        <c:minorTickMark val="none"/>
        <c:tickLblPos val="low"/>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b"/>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取引件数 前年差（件）</c:v>
                </c:pt>
              </c:strCache>
            </c:strRef>
          </c:tx>
          <c:spPr>
            <a:solidFill>
              <a:srgbClr val="DA1212"/>
            </a:solidFill>
          </c:spPr>
          <c:cat>
            <c:strRef>
              <c:f>Sheet1!$A$2:$A$4</c:f>
              <c:strCache>
                <c:ptCount val="3"/>
                <c:pt idx="0">
                  <c:v>既存顧客</c:v>
                </c:pt>
                <c:pt idx="1">
                  <c:v>新規顧客</c:v>
                </c:pt>
                <c:pt idx="2">
                  <c:v>非登録</c:v>
                </c:pt>
              </c:strCache>
            </c:strRef>
          </c:cat>
          <c:val>
            <c:numRef>
              <c:f>Sheet1!$B$2:$B$4</c:f>
              <c:numCache>
                <c:formatCode>General</c:formatCode>
                <c:ptCount val="3"/>
                <c:pt idx="0">
                  <c:v>97</c:v>
                </c:pt>
                <c:pt idx="1">
                  <c:v>-1369</c:v>
                </c:pt>
                <c:pt idx="2">
                  <c:v>-615</c:v>
                </c:pt>
              </c:numCache>
            </c:numRef>
          </c:val>
        </c:ser>
        <c:gapWidth val="80"/>
        <c:axId val="-2068027336"/>
        <c:axId val="-2113994440"/>
      </c:barChart>
      <c:catAx>
        <c:axId val="-2068027336"/>
        <c:scaling>
          <c:orientation val="minMax"/>
        </c:scaling>
        <c:delete val="0"/>
        <c:axPos val="b"/>
        <c:majorTickMark val="out"/>
        <c:minorTickMark val="none"/>
        <c:tickLblPos val="low"/>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顧客数 前年比（%）</c:v>
                </c:pt>
              </c:strCache>
            </c:strRef>
          </c:tx>
          <c:spPr>
            <a:solidFill>
              <a:srgbClr val="DA1212"/>
            </a:solidFill>
          </c:spPr>
          <c:cat>
            <c:strRef>
              <c:f>Sheet1!$A$2:$A$7</c:f>
              <c:strCache>
                <c:ptCount val="6"/>
                <c:pt idx="0">
                  <c:v>300万円以上</c:v>
                </c:pt>
                <c:pt idx="1">
                  <c:v>100-300万円</c:v>
                </c:pt>
                <c:pt idx="2">
                  <c:v>50-100万円</c:v>
                </c:pt>
                <c:pt idx="3">
                  <c:v>30-50万円</c:v>
                </c:pt>
                <c:pt idx="4">
                  <c:v>10-30万円</c:v>
                </c:pt>
                <c:pt idx="5">
                  <c:v>10万円未満</c:v>
                </c:pt>
              </c:strCache>
            </c:strRef>
          </c:cat>
          <c:val>
            <c:numRef>
              <c:f>Sheet1!$B$2:$B$7</c:f>
              <c:numCache>
                <c:formatCode>General</c:formatCode>
                <c:ptCount val="6"/>
                <c:pt idx="0">
                  <c:v>60.0</c:v>
                </c:pt>
                <c:pt idx="1">
                  <c:v>27.4</c:v>
                </c:pt>
                <c:pt idx="2">
                  <c:v>12.0</c:v>
                </c:pt>
                <c:pt idx="3">
                  <c:v>15.5</c:v>
                </c:pt>
                <c:pt idx="4">
                  <c:v>-3.3</c:v>
                </c:pt>
                <c:pt idx="5">
                  <c:v>-17.1</c:v>
                </c:pt>
              </c:numCache>
            </c:numRef>
          </c:val>
        </c:ser>
        <c:gapWidth val="80"/>
        <c:axId val="-2068027336"/>
        <c:axId val="-2113994440"/>
      </c:barChart>
      <c:catAx>
        <c:axId val="-2068027336"/>
        <c:scaling>
          <c:orientation val="minMax"/>
        </c:scaling>
        <c:delete val="0"/>
        <c:axPos val="b"/>
        <c:majorTickMark val="out"/>
        <c:minorTickMark val="none"/>
        <c:tickLblPos val="low"/>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前年差（百万円）</c:v>
                </c:pt>
              </c:strCache>
            </c:strRef>
          </c:tx>
          <c:spPr>
            <a:solidFill>
              <a:srgbClr val="DA1212"/>
            </a:solidFill>
          </c:spPr>
          <c:cat>
            <c:strRef>
              <c:f>Sheet1!$A$2:$A$10</c:f>
              <c:strCache>
                <c:ptCount val="9"/>
                <c:pt idx="0">
                  <c:v>Jackets</c:v>
                </c:pt>
                <c:pt idx="1">
                  <c:v>Shirts</c:v>
                </c:pt>
                <c:pt idx="2">
                  <c:v>Pullovers</c:v>
                </c:pt>
                <c:pt idx="3">
                  <c:v>T-shirts</c:v>
                </c:pt>
                <c:pt idx="4">
                  <c:v>Handbags</c:v>
                </c:pt>
                <c:pt idx="5">
                  <c:v>Dresses</c:v>
                </c:pt>
                <c:pt idx="6">
                  <c:v>Sweaters</c:v>
                </c:pt>
                <c:pt idx="7">
                  <c:v>Shoulder Bag</c:v>
                </c:pt>
                <c:pt idx="8">
                  <c:v>Shopping Bag</c:v>
                </c:pt>
              </c:strCache>
            </c:strRef>
          </c:cat>
          <c:val>
            <c:numRef>
              <c:f>Sheet1!$B$2:$B$10</c:f>
              <c:numCache>
                <c:formatCode>General</c:formatCode>
                <c:ptCount val="9"/>
                <c:pt idx="0">
                  <c:v>36.6</c:v>
                </c:pt>
                <c:pt idx="1">
                  <c:v>31.4</c:v>
                </c:pt>
                <c:pt idx="2">
                  <c:v>24.1</c:v>
                </c:pt>
                <c:pt idx="3">
                  <c:v>22.9</c:v>
                </c:pt>
                <c:pt idx="4">
                  <c:v>20.5</c:v>
                </c:pt>
                <c:pt idx="5">
                  <c:v>-10.3</c:v>
                </c:pt>
                <c:pt idx="6">
                  <c:v>-11.8</c:v>
                </c:pt>
                <c:pt idx="7">
                  <c:v>-18.5</c:v>
                </c:pt>
                <c:pt idx="8">
                  <c:v>-71.3</c:v>
                </c:pt>
              </c:numCache>
            </c:numRef>
          </c:val>
        </c:ser>
        <c:gapWidth val="80"/>
        <c:axId val="-2068027336"/>
        <c:axId val="-2113994440"/>
      </c:barChart>
      <c:catAx>
        <c:axId val="-2068027336"/>
        <c:scaling>
          <c:orientation val="minMax"/>
        </c:scaling>
        <c:delete val="0"/>
        <c:axPos val="l"/>
        <c:majorTickMark val="out"/>
        <c:minorTickMark val="none"/>
        <c:tickLblPos val="low"/>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b"/>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dispBlanksAs val="gap"/>
  </c:chart>
  <c:txPr>
    <a:bodyPr/>
    <a:lstStyle/>
    <a:p>
      <a:pPr>
        <a:defRPr sz="900">
          <a:solidFill>
            <a:srgbClr val="000000"/>
          </a:solidFill>
          <a:latin typeface="Helvetica Neue"/>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2025年 上期（百万円）</c:v>
                </c:pt>
              </c:strCache>
            </c:strRef>
          </c:tx>
          <c:spPr>
            <a:solidFill>
              <a:srgbClr val="DA1212"/>
            </a:solidFill>
          </c:spPr>
          <c:cat>
            <c:strRef>
              <c:f>Sheet1!$A$2:$A$7</c:f>
              <c:strCache>
                <c:ptCount val="6"/>
                <c:pt idx="0">
                  <c:v>中国</c:v>
                </c:pt>
                <c:pt idx="1">
                  <c:v>米国</c:v>
                </c:pt>
                <c:pt idx="2">
                  <c:v>台湾</c:v>
                </c:pt>
                <c:pt idx="3">
                  <c:v>韓国</c:v>
                </c:pt>
                <c:pt idx="4">
                  <c:v>香港</c:v>
                </c:pt>
                <c:pt idx="5">
                  <c:v>その他</c:v>
                </c:pt>
              </c:strCache>
            </c:strRef>
          </c:cat>
          <c:val>
            <c:numRef>
              <c:f>Sheet1!$B$2:$B$7</c:f>
              <c:numCache>
                <c:formatCode>General</c:formatCode>
                <c:ptCount val="6"/>
                <c:pt idx="0">
                  <c:v>89.7</c:v>
                </c:pt>
                <c:pt idx="1">
                  <c:v>20.1</c:v>
                </c:pt>
                <c:pt idx="2">
                  <c:v>16.0</c:v>
                </c:pt>
                <c:pt idx="3">
                  <c:v>12.6</c:v>
                </c:pt>
                <c:pt idx="4">
                  <c:v>9.4</c:v>
                </c:pt>
                <c:pt idx="5">
                  <c:v>51.2</c:v>
                </c:pt>
              </c:numCache>
            </c:numRef>
          </c:val>
        </c:ser>
        <c:ser>
          <c:idx val="1"/>
          <c:order val="1"/>
          <c:tx>
            <c:strRef>
              <c:f>Sheet1!$C$1</c:f>
              <c:strCache>
                <c:ptCount val="1"/>
                <c:pt idx="0">
                  <c:v>2026年 上期（百万円）</c:v>
                </c:pt>
              </c:strCache>
            </c:strRef>
          </c:tx>
          <c:spPr>
            <a:solidFill>
              <a:srgbClr val="000000"/>
            </a:solidFill>
          </c:spPr>
          <c:cat>
            <c:strRef>
              <c:f>Sheet1!$A$2:$A$7</c:f>
              <c:strCache>
                <c:ptCount val="6"/>
                <c:pt idx="0">
                  <c:v>中国</c:v>
                </c:pt>
                <c:pt idx="1">
                  <c:v>米国</c:v>
                </c:pt>
                <c:pt idx="2">
                  <c:v>台湾</c:v>
                </c:pt>
                <c:pt idx="3">
                  <c:v>韓国</c:v>
                </c:pt>
                <c:pt idx="4">
                  <c:v>香港</c:v>
                </c:pt>
                <c:pt idx="5">
                  <c:v>その他</c:v>
                </c:pt>
              </c:strCache>
            </c:strRef>
          </c:cat>
          <c:val>
            <c:numRef>
              <c:f>Sheet1!$C$2:$C$7</c:f>
              <c:numCache>
                <c:formatCode>General</c:formatCode>
                <c:ptCount val="6"/>
                <c:pt idx="0">
                  <c:v>53.6</c:v>
                </c:pt>
                <c:pt idx="1">
                  <c:v>27.1</c:v>
                </c:pt>
                <c:pt idx="2">
                  <c:v>23.9</c:v>
                </c:pt>
                <c:pt idx="3">
                  <c:v>15.3</c:v>
                </c:pt>
                <c:pt idx="4">
                  <c:v>12.8</c:v>
                </c:pt>
                <c:pt idx="5">
                  <c:v>71.0</c:v>
                </c:pt>
              </c:numCache>
            </c:numRef>
          </c:val>
        </c:ser>
        <c:gapWidth val="80"/>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w="9525">
              <a:solidFill>
                <a:srgbClr val="D2D2D2"/>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900"/>
          </a:pPr>
        </a:p>
      </c:txPr>
    </c:legend>
    <c:dispBlanksAs val="gap"/>
  </c:chart>
  <c:txPr>
    <a:bodyPr/>
    <a:lstStyle/>
    <a:p>
      <a:pPr>
        <a:defRPr sz="900">
          <a:solidFill>
            <a:srgbClr val="000000"/>
          </a:solidFill>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age" type="title">
  <p:cSld name="TITLE">
    <p:bg>
      <p:bgPr>
        <a:solidFill>
          <a:srgbClr val="F5EBE1"/>
        </a:solidFill>
        <a:effectLst/>
      </p:bgPr>
    </p:bg>
    <p:spTree>
      <p:nvGrpSpPr>
        <p:cNvPr id="1" name="Shape 12"/>
        <p:cNvGrpSpPr/>
        <p:nvPr/>
      </p:nvGrpSpPr>
      <p:grpSpPr>
        <a:xfrm>
          <a:off x="0" y="0"/>
          <a:ext cx="0" cy="0"/>
          <a:chOff x="0" y="0"/>
          <a:chExt cx="0" cy="0"/>
        </a:xfrm>
      </p:grpSpPr>
      <p:pic>
        <p:nvPicPr>
          <p:cNvPr id="13" name="Google Shape;13;p2" title="1.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14" name="Google Shape;14;p2"/>
          <p:cNvSpPr txBox="1">
            <a:spLocks noGrp="1"/>
          </p:cNvSpPr>
          <p:nvPr>
            <p:ph type="subTitle" idx="1"/>
          </p:nvPr>
        </p:nvSpPr>
        <p:spPr>
          <a:xfrm>
            <a:off x="2516850" y="4004695"/>
            <a:ext cx="4110300" cy="4617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SzPts val="2000"/>
              <a:buFont typeface="Helvetica Neue"/>
              <a:buNone/>
              <a:defRPr sz="2000" b="1">
                <a:latin typeface="Helvetica Neue"/>
                <a:ea typeface="Helvetica Neue"/>
                <a:cs typeface="Helvetica Neue"/>
                <a:sym typeface="Helvetica Neue"/>
              </a:defRPr>
            </a:lvl1pPr>
            <a:lvl2pPr lvl="1"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gn="ctr">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15" name="Google Shape;15;p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16" name="Google Shape;16;p2"/>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dk1"/>
                </a:solidFill>
                <a:latin typeface="Helvetica Neue"/>
                <a:ea typeface="Helvetica Neue"/>
                <a:cs typeface="Helvetica Neue"/>
                <a:sym typeface="Helvetica Neue"/>
              </a:rPr>
              <a:t>© Marni 2026, All rights reserved</a:t>
            </a:r>
            <a:endParaRPr sz="600">
              <a:solidFill>
                <a:schemeClr val="dk2"/>
              </a:solidFill>
              <a:latin typeface="Helvetica Neue"/>
              <a:ea typeface="Helvetica Neue"/>
              <a:cs typeface="Helvetica Neue"/>
              <a:sym typeface="Helvetica Neue"/>
            </a:endParaRPr>
          </a:p>
        </p:txBody>
      </p:sp>
      <p:sp>
        <p:nvSpPr>
          <p:cNvPr id="17" name="Google Shape;17;p2"/>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dk1"/>
                </a:solidFill>
                <a:latin typeface="Helvetica Neue Light"/>
                <a:ea typeface="Helvetica Neue Light"/>
                <a:cs typeface="Helvetica Neue Light"/>
                <a:sym typeface="Helvetica Neue Light"/>
              </a:rPr>
              <a:t>August 26</a:t>
            </a:r>
            <a:endParaRPr sz="600">
              <a:solidFill>
                <a:schemeClr val="dk2"/>
              </a:solidFill>
              <a:latin typeface="Helvetica Neue Light"/>
              <a:ea typeface="Helvetica Neue Light"/>
              <a:cs typeface="Helvetica Neue Light"/>
              <a:sym typeface="Helvetica Neue Light"/>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age 1" type="secHead">
  <p:cSld name="SECTION_HEADER">
    <p:spTree>
      <p:nvGrpSpPr>
        <p:cNvPr id="1" name="Shape 18"/>
        <p:cNvGrpSpPr/>
        <p:nvPr/>
      </p:nvGrpSpPr>
      <p:grpSpPr>
        <a:xfrm>
          <a:off x="0" y="0"/>
          <a:ext cx="0" cy="0"/>
          <a:chOff x="0" y="0"/>
          <a:chExt cx="0" cy="0"/>
        </a:xfrm>
      </p:grpSpPr>
      <p:pic>
        <p:nvPicPr>
          <p:cNvPr id="19" name="Google Shape;19;p3" title="2.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20" name="Google Shape;20;p3"/>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21" name="Google Shape;21;p3"/>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22" name="Google Shape;22;p3"/>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dk1"/>
                </a:solidFill>
                <a:latin typeface="Helvetica Neue"/>
                <a:ea typeface="Helvetica Neue"/>
                <a:cs typeface="Helvetica Neue"/>
                <a:sym typeface="Helvetica Neue"/>
              </a:rPr>
              <a:t>© Marni 2026, All rights reserved</a:t>
            </a:r>
            <a:endParaRPr sz="600">
              <a:solidFill>
                <a:schemeClr val="dk2"/>
              </a:solidFill>
              <a:latin typeface="Helvetica Neue"/>
              <a:ea typeface="Helvetica Neue"/>
              <a:cs typeface="Helvetica Neue"/>
              <a:sym typeface="Helvetica Neue"/>
            </a:endParaRPr>
          </a:p>
        </p:txBody>
      </p:sp>
      <p:sp>
        <p:nvSpPr>
          <p:cNvPr id="23" name="Google Shape;23;p3"/>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dk1"/>
                </a:solidFill>
                <a:latin typeface="Helvetica Neue Light"/>
                <a:ea typeface="Helvetica Neue Light"/>
                <a:cs typeface="Helvetica Neue Light"/>
                <a:sym typeface="Helvetica Neue Light"/>
              </a:rPr>
              <a:t>August 26</a:t>
            </a:r>
            <a:endParaRPr sz="600">
              <a:solidFill>
                <a:schemeClr val="dk2"/>
              </a:solidFill>
              <a:latin typeface="Helvetica Neue Light"/>
              <a:ea typeface="Helvetica Neue Light"/>
              <a:cs typeface="Helvetica Neue Light"/>
              <a:sym typeface="Helvetica Neue Light"/>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
  <p:cSld name="SECTION_HEADER_1">
    <p:spTree>
      <p:nvGrpSpPr>
        <p:cNvPr id="1" name="Shape 24"/>
        <p:cNvGrpSpPr/>
        <p:nvPr/>
      </p:nvGrpSpPr>
      <p:grpSpPr>
        <a:xfrm>
          <a:off x="0" y="0"/>
          <a:ext cx="0" cy="0"/>
          <a:chOff x="0" y="0"/>
          <a:chExt cx="0" cy="0"/>
        </a:xfrm>
      </p:grpSpPr>
      <p:sp>
        <p:nvSpPr>
          <p:cNvPr id="25" name="Google Shape;25;p4"/>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26" name="Google Shape;26;p4"/>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xt + Image 1">
  <p:cSld name="SECTION_HEADER_1_2">
    <p:spTree>
      <p:nvGrpSpPr>
        <p:cNvPr id="1" name="Shape 27"/>
        <p:cNvGrpSpPr/>
        <p:nvPr/>
      </p:nvGrpSpPr>
      <p:grpSpPr>
        <a:xfrm>
          <a:off x="0" y="0"/>
          <a:ext cx="0" cy="0"/>
          <a:chOff x="0" y="0"/>
          <a:chExt cx="0" cy="0"/>
        </a:xfrm>
      </p:grpSpPr>
      <p:sp>
        <p:nvSpPr>
          <p:cNvPr id="28" name="Google Shape;28;p5"/>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29" name="Google Shape;29;p5"/>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30" name="Google Shape;30;p5"/>
          <p:cNvSpPr txBox="1">
            <a:spLocks noGrp="1"/>
          </p:cNvSpPr>
          <p:nvPr>
            <p:ph type="subTitle" idx="2"/>
          </p:nvPr>
        </p:nvSpPr>
        <p:spPr>
          <a:xfrm>
            <a:off x="1075775" y="1080000"/>
            <a:ext cx="2231400" cy="3060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800"/>
              <a:buNone/>
              <a:defRPr sz="800"/>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
        <p:nvSpPr>
          <p:cNvPr id="31" name="Google Shape;31;p5"/>
          <p:cNvSpPr>
            <a:spLocks noGrp="1"/>
          </p:cNvSpPr>
          <p:nvPr>
            <p:ph type="pic" idx="3"/>
          </p:nvPr>
        </p:nvSpPr>
        <p:spPr>
          <a:xfrm>
            <a:off x="3459000" y="1080000"/>
            <a:ext cx="4605000" cy="3060000"/>
          </a:xfrm>
          <a:prstGeom prst="rect">
            <a:avLst/>
          </a:prstGeom>
          <a:noFill/>
          <a:ln>
            <a:noFill/>
          </a:ln>
        </p:spPr>
        <p:txBody>
          <a:body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ext + Image 2">
  <p:cSld name="SECTION_HEADER_1_2_1">
    <p:spTree>
      <p:nvGrpSpPr>
        <p:cNvPr id="1" name="Shape 32"/>
        <p:cNvGrpSpPr/>
        <p:nvPr/>
      </p:nvGrpSpPr>
      <p:grpSpPr>
        <a:xfrm>
          <a:off x="0" y="0"/>
          <a:ext cx="0" cy="0"/>
          <a:chOff x="0" y="0"/>
          <a:chExt cx="0" cy="0"/>
        </a:xfrm>
      </p:grpSpPr>
      <p:sp>
        <p:nvSpPr>
          <p:cNvPr id="33" name="Google Shape;33;p6"/>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34" name="Google Shape;34;p6"/>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35" name="Google Shape;35;p6"/>
          <p:cNvSpPr txBox="1">
            <a:spLocks noGrp="1"/>
          </p:cNvSpPr>
          <p:nvPr>
            <p:ph type="subTitle" idx="2"/>
          </p:nvPr>
        </p:nvSpPr>
        <p:spPr>
          <a:xfrm>
            <a:off x="5832600" y="1080000"/>
            <a:ext cx="2231400" cy="3060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800"/>
              <a:buNone/>
              <a:defRPr sz="800"/>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
        <p:nvSpPr>
          <p:cNvPr id="36" name="Google Shape;36;p6"/>
          <p:cNvSpPr>
            <a:spLocks noGrp="1"/>
          </p:cNvSpPr>
          <p:nvPr>
            <p:ph type="pic" idx="3"/>
          </p:nvPr>
        </p:nvSpPr>
        <p:spPr>
          <a:xfrm>
            <a:off x="1080000" y="1080000"/>
            <a:ext cx="4605000" cy="3060000"/>
          </a:xfrm>
          <a:prstGeom prst="rect">
            <a:avLst/>
          </a:prstGeom>
          <a:noFill/>
          <a:ln>
            <a:noFill/>
          </a:ln>
        </p:spPr>
        <p:txBody>
          <a:body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ext + Image 3">
  <p:cSld name="SECTION_HEADER_1_2_2">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39" name="Google Shape;39;p7"/>
          <p:cNvSpPr txBox="1">
            <a:spLocks noGrp="1"/>
          </p:cNvSpPr>
          <p:nvPr>
            <p:ph type="subTitle" idx="1"/>
          </p:nvPr>
        </p:nvSpPr>
        <p:spPr>
          <a:xfrm>
            <a:off x="1075770"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40" name="Google Shape;40;p7"/>
          <p:cNvSpPr txBox="1">
            <a:spLocks noGrp="1"/>
          </p:cNvSpPr>
          <p:nvPr>
            <p:ph type="subTitle" idx="2"/>
          </p:nvPr>
        </p:nvSpPr>
        <p:spPr>
          <a:xfrm>
            <a:off x="1075775" y="1080000"/>
            <a:ext cx="2231400" cy="3060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800"/>
              <a:buNone/>
              <a:defRPr sz="800"/>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
        <p:nvSpPr>
          <p:cNvPr id="41" name="Google Shape;41;p7"/>
          <p:cNvSpPr>
            <a:spLocks noGrp="1"/>
          </p:cNvSpPr>
          <p:nvPr>
            <p:ph type="pic" idx="3"/>
          </p:nvPr>
        </p:nvSpPr>
        <p:spPr>
          <a:xfrm>
            <a:off x="5832600" y="1080000"/>
            <a:ext cx="2231400" cy="3060000"/>
          </a:xfrm>
          <a:prstGeom prst="rect">
            <a:avLst/>
          </a:prstGeom>
          <a:noFill/>
          <a:ln>
            <a:noFill/>
          </a:ln>
        </p:spPr>
        <p:txBody>
          <a:bodyPr/>
          <a:p/>
        </p:txBody>
      </p:sp>
      <p:sp>
        <p:nvSpPr>
          <p:cNvPr id="42" name="Google Shape;42;p7"/>
          <p:cNvSpPr txBox="1">
            <a:spLocks noGrp="1"/>
          </p:cNvSpPr>
          <p:nvPr>
            <p:ph type="subTitle" idx="4"/>
          </p:nvPr>
        </p:nvSpPr>
        <p:spPr>
          <a:xfrm>
            <a:off x="3456300" y="1080000"/>
            <a:ext cx="2231400" cy="30600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800"/>
              <a:buNone/>
              <a:defRPr sz="800"/>
            </a:lvl1pPr>
            <a:lvl2pPr lvl="1" rtl="0">
              <a:spcBef>
                <a:spcPts val="0"/>
              </a:spcBef>
              <a:spcAft>
                <a:spcPts val="0"/>
              </a:spcAft>
              <a:buSzPts val="14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900"/>
              <a:buNone/>
              <a:defRPr/>
            </a:lvl5pPr>
            <a:lvl6pPr lvl="5" rtl="0">
              <a:spcBef>
                <a:spcPts val="0"/>
              </a:spcBef>
              <a:spcAft>
                <a:spcPts val="0"/>
              </a:spcAft>
              <a:buSzPts val="900"/>
              <a:buNone/>
              <a:defRPr/>
            </a:lvl6pPr>
            <a:lvl7pPr lvl="6" rtl="0">
              <a:spcBef>
                <a:spcPts val="0"/>
              </a:spcBef>
              <a:spcAft>
                <a:spcPts val="0"/>
              </a:spcAft>
              <a:buSzPts val="900"/>
              <a:buNone/>
              <a:defRPr/>
            </a:lvl7pPr>
            <a:lvl8pPr lvl="7" rtl="0">
              <a:spcBef>
                <a:spcPts val="0"/>
              </a:spcBef>
              <a:spcAft>
                <a:spcPts val="0"/>
              </a:spcAft>
              <a:buSzPts val="900"/>
              <a:buNone/>
              <a:defRPr/>
            </a:lvl8pPr>
            <a:lvl9pPr lvl="8" rtl="0">
              <a:spcBef>
                <a:spcPts val="0"/>
              </a:spcBef>
              <a:spcAft>
                <a:spcPts val="0"/>
              </a:spcAft>
              <a:buSzPts val="9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ubtitle Page 2 2 2">
  <p:cSld name="SECTION_HEADER_1_2_2_2">
    <p:spTree>
      <p:nvGrpSpPr>
        <p:cNvPr id="1" name="Shape 43"/>
        <p:cNvGrpSpPr/>
        <p:nvPr/>
      </p:nvGrpSpPr>
      <p:grpSpPr>
        <a:xfrm>
          <a:off x="0" y="0"/>
          <a:ext cx="0" cy="0"/>
          <a:chOff x="0" y="0"/>
          <a:chExt cx="0" cy="0"/>
        </a:xfrm>
      </p:grpSpPr>
      <p:sp>
        <p:nvSpPr>
          <p:cNvPr id="44" name="Google Shape;44;p8"/>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45" name="Google Shape;45;p8"/>
          <p:cNvSpPr txBox="1">
            <a:spLocks noGrp="1"/>
          </p:cNvSpPr>
          <p:nvPr>
            <p:ph type="subTitle" idx="1"/>
          </p:nvPr>
        </p:nvSpPr>
        <p:spPr>
          <a:xfrm>
            <a:off x="1075770"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46" name="Google Shape;46;p8"/>
          <p:cNvSpPr/>
          <p:nvPr/>
        </p:nvSpPr>
        <p:spPr>
          <a:xfrm>
            <a:off x="1080000" y="1080000"/>
            <a:ext cx="2231400" cy="3060000"/>
          </a:xfrm>
          <a:prstGeom prst="rect">
            <a:avLst/>
          </a:prstGeom>
          <a:solidFill>
            <a:srgbClr val="DA121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47" name="Google Shape;47;p8"/>
          <p:cNvSpPr/>
          <p:nvPr/>
        </p:nvSpPr>
        <p:spPr>
          <a:xfrm>
            <a:off x="3456300" y="1080000"/>
            <a:ext cx="2231400" cy="1020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48" name="Google Shape;48;p8"/>
          <p:cNvSpPr/>
          <p:nvPr/>
        </p:nvSpPr>
        <p:spPr>
          <a:xfrm>
            <a:off x="3456300" y="2100000"/>
            <a:ext cx="2231400" cy="1020000"/>
          </a:xfrm>
          <a:prstGeom prst="rect">
            <a:avLst/>
          </a:prstGeom>
          <a:solidFill>
            <a:srgbClr val="9D533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49" name="Google Shape;49;p8"/>
          <p:cNvSpPr/>
          <p:nvPr/>
        </p:nvSpPr>
        <p:spPr>
          <a:xfrm>
            <a:off x="3456300" y="3120000"/>
            <a:ext cx="2231400" cy="1020000"/>
          </a:xfrm>
          <a:prstGeom prst="rect">
            <a:avLst/>
          </a:prstGeom>
          <a:solidFill>
            <a:srgbClr val="D2D2D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50" name="Google Shape;50;p8"/>
          <p:cNvSpPr/>
          <p:nvPr/>
        </p:nvSpPr>
        <p:spPr>
          <a:xfrm>
            <a:off x="5832600" y="1080000"/>
            <a:ext cx="2231400" cy="1020000"/>
          </a:xfrm>
          <a:prstGeom prst="rect">
            <a:avLst/>
          </a:prstGeom>
          <a:solidFill>
            <a:srgbClr val="40202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51" name="Google Shape;51;p8"/>
          <p:cNvSpPr/>
          <p:nvPr/>
        </p:nvSpPr>
        <p:spPr>
          <a:xfrm>
            <a:off x="5832600" y="2100000"/>
            <a:ext cx="2231400" cy="1020000"/>
          </a:xfrm>
          <a:prstGeom prst="rect">
            <a:avLst/>
          </a:prstGeom>
          <a:solidFill>
            <a:srgbClr val="B7ACD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
        <p:nvSpPr>
          <p:cNvPr id="52" name="Google Shape;52;p8"/>
          <p:cNvSpPr/>
          <p:nvPr/>
        </p:nvSpPr>
        <p:spPr>
          <a:xfrm>
            <a:off x="5832600" y="3120000"/>
            <a:ext cx="2231400" cy="1020000"/>
          </a:xfrm>
          <a:prstGeom prst="rect">
            <a:avLst/>
          </a:prstGeom>
          <a:solidFill>
            <a:srgbClr val="FBF59B"/>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elvetica Neue"/>
              <a:ea typeface="Helvetica Neue"/>
              <a:cs typeface="Helvetica Neue"/>
              <a:sym typeface="Helvetica Neue"/>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8 Images">
  <p:cSld name="SECTION_HEADER_1_2_2_1">
    <p:spTree>
      <p:nvGrpSpPr>
        <p:cNvPr id="1" name="Shape 53"/>
        <p:cNvGrpSpPr/>
        <p:nvPr/>
      </p:nvGrpSpPr>
      <p:grpSpPr>
        <a:xfrm>
          <a:off x="0" y="0"/>
          <a:ext cx="0" cy="0"/>
          <a:chOff x="0" y="0"/>
          <a:chExt cx="0" cy="0"/>
        </a:xfrm>
      </p:grpSpPr>
      <p:sp>
        <p:nvSpPr>
          <p:cNvPr id="54" name="Google Shape;54;p9"/>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55" name="Google Shape;55;p9"/>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56" name="Google Shape;56;p9"/>
          <p:cNvSpPr>
            <a:spLocks noGrp="1"/>
          </p:cNvSpPr>
          <p:nvPr>
            <p:ph type="pic" idx="2"/>
          </p:nvPr>
        </p:nvSpPr>
        <p:spPr>
          <a:xfrm>
            <a:off x="1077850" y="1080000"/>
            <a:ext cx="1687800" cy="1203300"/>
          </a:xfrm>
          <a:prstGeom prst="rect">
            <a:avLst/>
          </a:prstGeom>
          <a:noFill/>
          <a:ln>
            <a:noFill/>
          </a:ln>
        </p:spPr>
        <p:txBody>
          <a:bodyPr/>
          <a:p/>
        </p:txBody>
      </p:sp>
      <p:sp>
        <p:nvSpPr>
          <p:cNvPr id="57" name="Google Shape;57;p9"/>
          <p:cNvSpPr>
            <a:spLocks noGrp="1"/>
          </p:cNvSpPr>
          <p:nvPr>
            <p:ph type="pic" idx="3"/>
          </p:nvPr>
        </p:nvSpPr>
        <p:spPr>
          <a:xfrm>
            <a:off x="2845388" y="1080000"/>
            <a:ext cx="1687800" cy="1203300"/>
          </a:xfrm>
          <a:prstGeom prst="rect">
            <a:avLst/>
          </a:prstGeom>
          <a:noFill/>
          <a:ln>
            <a:noFill/>
          </a:ln>
        </p:spPr>
        <p:txBody>
          <a:bodyPr/>
          <a:p/>
        </p:txBody>
      </p:sp>
      <p:sp>
        <p:nvSpPr>
          <p:cNvPr id="58" name="Google Shape;58;p9"/>
          <p:cNvSpPr>
            <a:spLocks noGrp="1"/>
          </p:cNvSpPr>
          <p:nvPr>
            <p:ph type="pic" idx="4"/>
          </p:nvPr>
        </p:nvSpPr>
        <p:spPr>
          <a:xfrm>
            <a:off x="4611863" y="1080000"/>
            <a:ext cx="1687800" cy="1203300"/>
          </a:xfrm>
          <a:prstGeom prst="rect">
            <a:avLst/>
          </a:prstGeom>
          <a:noFill/>
          <a:ln>
            <a:noFill/>
          </a:ln>
        </p:spPr>
        <p:txBody>
          <a:bodyPr/>
          <a:p/>
        </p:txBody>
      </p:sp>
      <p:sp>
        <p:nvSpPr>
          <p:cNvPr id="59" name="Google Shape;59;p9"/>
          <p:cNvSpPr>
            <a:spLocks noGrp="1"/>
          </p:cNvSpPr>
          <p:nvPr>
            <p:ph type="pic" idx="5"/>
          </p:nvPr>
        </p:nvSpPr>
        <p:spPr>
          <a:xfrm>
            <a:off x="1077850" y="2579050"/>
            <a:ext cx="1687800" cy="1203300"/>
          </a:xfrm>
          <a:prstGeom prst="rect">
            <a:avLst/>
          </a:prstGeom>
          <a:noFill/>
          <a:ln>
            <a:noFill/>
          </a:ln>
        </p:spPr>
        <p:txBody>
          <a:bodyPr/>
          <a:p/>
        </p:txBody>
      </p:sp>
      <p:sp>
        <p:nvSpPr>
          <p:cNvPr id="60" name="Google Shape;60;p9"/>
          <p:cNvSpPr>
            <a:spLocks noGrp="1"/>
          </p:cNvSpPr>
          <p:nvPr>
            <p:ph type="pic" idx="6"/>
          </p:nvPr>
        </p:nvSpPr>
        <p:spPr>
          <a:xfrm>
            <a:off x="2845388" y="2579050"/>
            <a:ext cx="1687800" cy="1203300"/>
          </a:xfrm>
          <a:prstGeom prst="rect">
            <a:avLst/>
          </a:prstGeom>
          <a:noFill/>
          <a:ln>
            <a:noFill/>
          </a:ln>
        </p:spPr>
        <p:txBody>
          <a:bodyPr/>
          <a:p/>
        </p:txBody>
      </p:sp>
      <p:sp>
        <p:nvSpPr>
          <p:cNvPr id="61" name="Google Shape;61;p9"/>
          <p:cNvSpPr>
            <a:spLocks noGrp="1"/>
          </p:cNvSpPr>
          <p:nvPr>
            <p:ph type="pic" idx="7"/>
          </p:nvPr>
        </p:nvSpPr>
        <p:spPr>
          <a:xfrm>
            <a:off x="4611863" y="2579050"/>
            <a:ext cx="1687800" cy="1203300"/>
          </a:xfrm>
          <a:prstGeom prst="rect">
            <a:avLst/>
          </a:prstGeom>
          <a:noFill/>
          <a:ln>
            <a:noFill/>
          </a:ln>
        </p:spPr>
        <p:txBody>
          <a:bodyPr/>
          <a:p/>
        </p:txBody>
      </p:sp>
      <p:sp>
        <p:nvSpPr>
          <p:cNvPr id="62" name="Google Shape;62;p9"/>
          <p:cNvSpPr>
            <a:spLocks noGrp="1"/>
          </p:cNvSpPr>
          <p:nvPr>
            <p:ph type="pic" idx="8"/>
          </p:nvPr>
        </p:nvSpPr>
        <p:spPr>
          <a:xfrm>
            <a:off x="6378338" y="2579050"/>
            <a:ext cx="1687800" cy="1203300"/>
          </a:xfrm>
          <a:prstGeom prst="rect">
            <a:avLst/>
          </a:prstGeom>
          <a:noFill/>
          <a:ln>
            <a:noFill/>
          </a:ln>
        </p:spPr>
        <p:txBody>
          <a:bodyPr/>
          <a:p/>
        </p:txBody>
      </p:sp>
      <p:sp>
        <p:nvSpPr>
          <p:cNvPr id="63" name="Google Shape;63;p9"/>
          <p:cNvSpPr>
            <a:spLocks noGrp="1"/>
          </p:cNvSpPr>
          <p:nvPr>
            <p:ph type="pic" idx="9"/>
          </p:nvPr>
        </p:nvSpPr>
        <p:spPr>
          <a:xfrm>
            <a:off x="6378338" y="1080000"/>
            <a:ext cx="1687800" cy="1203300"/>
          </a:xfrm>
          <a:prstGeom prst="rect">
            <a:avLst/>
          </a:prstGeom>
          <a:noFill/>
          <a:ln>
            <a:noFill/>
          </a:ln>
        </p:spPr>
        <p:txBody>
          <a:bodyPr/>
          <a:p/>
        </p:txBody>
      </p:sp>
      <p:sp>
        <p:nvSpPr>
          <p:cNvPr id="64" name="Google Shape;64;p9"/>
          <p:cNvSpPr txBox="1">
            <a:spLocks noGrp="1"/>
          </p:cNvSpPr>
          <p:nvPr>
            <p:ph type="subTitle" idx="13"/>
          </p:nvPr>
        </p:nvSpPr>
        <p:spPr>
          <a:xfrm>
            <a:off x="3456300" y="3832200"/>
            <a:ext cx="2231400" cy="307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800"/>
              <a:buNone/>
              <a:defRPr sz="800" b="1"/>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 Images">
  <p:cSld name="SECTION_HEADER_1_2_2_1_1">
    <p:spTree>
      <p:nvGrpSpPr>
        <p:cNvPr id="1" name="Shape 65"/>
        <p:cNvGrpSpPr/>
        <p:nvPr/>
      </p:nvGrpSpPr>
      <p:grpSpPr>
        <a:xfrm>
          <a:off x="0" y="0"/>
          <a:ext cx="0" cy="0"/>
          <a:chOff x="0" y="0"/>
          <a:chExt cx="0" cy="0"/>
        </a:xfrm>
      </p:grpSpPr>
      <p:sp>
        <p:nvSpPr>
          <p:cNvPr id="66" name="Google Shape;66;p10"/>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67" name="Google Shape;67;p10"/>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68" name="Google Shape;68;p10"/>
          <p:cNvSpPr>
            <a:spLocks noGrp="1"/>
          </p:cNvSpPr>
          <p:nvPr>
            <p:ph type="pic" idx="2"/>
          </p:nvPr>
        </p:nvSpPr>
        <p:spPr>
          <a:xfrm>
            <a:off x="1077850" y="1080000"/>
            <a:ext cx="1687800" cy="2702100"/>
          </a:xfrm>
          <a:prstGeom prst="rect">
            <a:avLst/>
          </a:prstGeom>
          <a:noFill/>
          <a:ln>
            <a:noFill/>
          </a:ln>
        </p:spPr>
        <p:txBody>
          <a:bodyPr/>
          <a:p/>
        </p:txBody>
      </p:sp>
      <p:sp>
        <p:nvSpPr>
          <p:cNvPr id="69" name="Google Shape;69;p10"/>
          <p:cNvSpPr>
            <a:spLocks noGrp="1"/>
          </p:cNvSpPr>
          <p:nvPr>
            <p:ph type="pic" idx="3"/>
          </p:nvPr>
        </p:nvSpPr>
        <p:spPr>
          <a:xfrm>
            <a:off x="2845400" y="1080057"/>
            <a:ext cx="1687800" cy="2702100"/>
          </a:xfrm>
          <a:prstGeom prst="rect">
            <a:avLst/>
          </a:prstGeom>
          <a:noFill/>
          <a:ln>
            <a:noFill/>
          </a:ln>
        </p:spPr>
        <p:txBody>
          <a:bodyPr/>
          <a:p/>
        </p:txBody>
      </p:sp>
      <p:sp>
        <p:nvSpPr>
          <p:cNvPr id="70" name="Google Shape;70;p10"/>
          <p:cNvSpPr>
            <a:spLocks noGrp="1"/>
          </p:cNvSpPr>
          <p:nvPr>
            <p:ph type="pic" idx="4"/>
          </p:nvPr>
        </p:nvSpPr>
        <p:spPr>
          <a:xfrm>
            <a:off x="4611875" y="1080057"/>
            <a:ext cx="1687800" cy="2702100"/>
          </a:xfrm>
          <a:prstGeom prst="rect">
            <a:avLst/>
          </a:prstGeom>
          <a:noFill/>
          <a:ln>
            <a:noFill/>
          </a:ln>
        </p:spPr>
        <p:txBody>
          <a:bodyPr/>
          <a:p/>
        </p:txBody>
      </p:sp>
      <p:sp>
        <p:nvSpPr>
          <p:cNvPr id="71" name="Google Shape;71;p10"/>
          <p:cNvSpPr>
            <a:spLocks noGrp="1"/>
          </p:cNvSpPr>
          <p:nvPr>
            <p:ph type="pic" idx="5"/>
          </p:nvPr>
        </p:nvSpPr>
        <p:spPr>
          <a:xfrm>
            <a:off x="6378350" y="1080057"/>
            <a:ext cx="1687800" cy="2702100"/>
          </a:xfrm>
          <a:prstGeom prst="rect">
            <a:avLst/>
          </a:prstGeom>
          <a:noFill/>
          <a:ln>
            <a:noFill/>
          </a:ln>
        </p:spPr>
        <p:txBody>
          <a:bodyPr/>
          <a:p/>
        </p:txBody>
      </p:sp>
      <p:sp>
        <p:nvSpPr>
          <p:cNvPr id="72" name="Google Shape;72;p10"/>
          <p:cNvSpPr txBox="1">
            <a:spLocks noGrp="1"/>
          </p:cNvSpPr>
          <p:nvPr>
            <p:ph type="subTitle" idx="6"/>
          </p:nvPr>
        </p:nvSpPr>
        <p:spPr>
          <a:xfrm>
            <a:off x="3456300" y="3832200"/>
            <a:ext cx="2231400" cy="307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800"/>
              <a:buNone/>
              <a:defRPr sz="800" b="1"/>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2 Images">
  <p:cSld name="SECTION_HEADER_1_2_2_1_1_1">
    <p:spTree>
      <p:nvGrpSpPr>
        <p:cNvPr id="1" name="Shape 73"/>
        <p:cNvGrpSpPr/>
        <p:nvPr/>
      </p:nvGrpSpPr>
      <p:grpSpPr>
        <a:xfrm>
          <a:off x="0" y="0"/>
          <a:ext cx="0" cy="0"/>
          <a:chOff x="0" y="0"/>
          <a:chExt cx="0" cy="0"/>
        </a:xfrm>
      </p:grpSpPr>
      <p:sp>
        <p:nvSpPr>
          <p:cNvPr id="74" name="Google Shape;74;p11"/>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75" name="Google Shape;75;p11"/>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76" name="Google Shape;76;p11"/>
          <p:cNvSpPr>
            <a:spLocks noGrp="1"/>
          </p:cNvSpPr>
          <p:nvPr>
            <p:ph type="pic" idx="2"/>
          </p:nvPr>
        </p:nvSpPr>
        <p:spPr>
          <a:xfrm>
            <a:off x="1077850" y="1080000"/>
            <a:ext cx="3455400" cy="2702100"/>
          </a:xfrm>
          <a:prstGeom prst="rect">
            <a:avLst/>
          </a:prstGeom>
          <a:noFill/>
          <a:ln>
            <a:noFill/>
          </a:ln>
        </p:spPr>
        <p:txBody>
          <a:bodyPr/>
          <a:p/>
        </p:txBody>
      </p:sp>
      <p:sp>
        <p:nvSpPr>
          <p:cNvPr id="77" name="Google Shape;77;p11"/>
          <p:cNvSpPr txBox="1">
            <a:spLocks noGrp="1"/>
          </p:cNvSpPr>
          <p:nvPr>
            <p:ph type="subTitle" idx="3"/>
          </p:nvPr>
        </p:nvSpPr>
        <p:spPr>
          <a:xfrm>
            <a:off x="3456300" y="3832200"/>
            <a:ext cx="2231400" cy="307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800"/>
              <a:buNone/>
              <a:defRPr sz="800" b="1"/>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900"/>
              <a:buNone/>
              <a:defRPr/>
            </a:lvl5pPr>
            <a:lvl6pPr lvl="5">
              <a:spcBef>
                <a:spcPts val="0"/>
              </a:spcBef>
              <a:spcAft>
                <a:spcPts val="0"/>
              </a:spcAft>
              <a:buSzPts val="900"/>
              <a:buNone/>
              <a:defRPr/>
            </a:lvl6pPr>
            <a:lvl7pPr lvl="6">
              <a:spcBef>
                <a:spcPts val="0"/>
              </a:spcBef>
              <a:spcAft>
                <a:spcPts val="0"/>
              </a:spcAft>
              <a:buSzPts val="900"/>
              <a:buNone/>
              <a:defRPr/>
            </a:lvl7pPr>
            <a:lvl8pPr lvl="7">
              <a:spcBef>
                <a:spcPts val="0"/>
              </a:spcBef>
              <a:spcAft>
                <a:spcPts val="0"/>
              </a:spcAft>
              <a:buSzPts val="900"/>
              <a:buNone/>
              <a:defRPr/>
            </a:lvl8pPr>
            <a:lvl9pPr lvl="8">
              <a:spcBef>
                <a:spcPts val="0"/>
              </a:spcBef>
              <a:spcAft>
                <a:spcPts val="0"/>
              </a:spcAft>
              <a:buSzPts val="900"/>
              <a:buNone/>
              <a:defRPr/>
            </a:lvl9pPr>
          </a:lstStyle>
          <a:p>
            <a:endParaRPr/>
          </a:p>
        </p:txBody>
      </p:sp>
      <p:sp>
        <p:nvSpPr>
          <p:cNvPr id="78" name="Google Shape;78;p11"/>
          <p:cNvSpPr>
            <a:spLocks noGrp="1"/>
          </p:cNvSpPr>
          <p:nvPr>
            <p:ph type="pic" idx="4"/>
          </p:nvPr>
        </p:nvSpPr>
        <p:spPr>
          <a:xfrm>
            <a:off x="4608600" y="1080000"/>
            <a:ext cx="3455400" cy="2702100"/>
          </a:xfrm>
          <a:prstGeom prst="rect">
            <a:avLst/>
          </a:prstGeom>
          <a:noFill/>
          <a:ln>
            <a:noFill/>
          </a:ln>
        </p:spPr>
        <p:txBody>
          <a:body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Page">
  <p:cSld name="SECTION_HEADER_1_1">
    <p:spTree>
      <p:nvGrpSpPr>
        <p:cNvPr id="1" name="Shape 79"/>
        <p:cNvGrpSpPr/>
        <p:nvPr/>
      </p:nvGrpSpPr>
      <p:grpSpPr>
        <a:xfrm>
          <a:off x="0" y="0"/>
          <a:ext cx="0" cy="0"/>
          <a:chOff x="0" y="0"/>
          <a:chExt cx="0" cy="0"/>
        </a:xfrm>
      </p:grpSpPr>
      <p:sp>
        <p:nvSpPr>
          <p:cNvPr id="80" name="Google Shape;80;p1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81" name="Google Shape;81;p12"/>
          <p:cNvSpPr txBox="1">
            <a:spLocks noGrp="1"/>
          </p:cNvSpPr>
          <p:nvPr>
            <p:ph type="subTitle" idx="1"/>
          </p:nvPr>
        </p:nvSpPr>
        <p:spPr>
          <a:xfrm>
            <a:off x="1081220"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82" name="Google Shape;82;p12"/>
          <p:cNvSpPr txBox="1">
            <a:spLocks noGrp="1"/>
          </p:cNvSpPr>
          <p:nvPr>
            <p:ph type="title"/>
          </p:nvPr>
        </p:nvSpPr>
        <p:spPr>
          <a:xfrm>
            <a:off x="1080000" y="1073000"/>
            <a:ext cx="6984000" cy="325800"/>
          </a:xfrm>
          <a:prstGeom prst="rect">
            <a:avLst/>
          </a:prstGeom>
          <a:solidFill>
            <a:schemeClr val="dk1"/>
          </a:solidFill>
        </p:spPr>
        <p:txBody>
          <a:bodyPr spcFirstLastPara="1" wrap="square" lIns="91425" tIns="91425" rIns="91425" bIns="91425" anchor="t" anchorCtr="0">
            <a:spAutoFit/>
          </a:bodyPr>
          <a:lstStyle>
            <a:lvl1pPr lvl="0" algn="ctr">
              <a:spcBef>
                <a:spcPts val="0"/>
              </a:spcBef>
              <a:spcAft>
                <a:spcPts val="0"/>
              </a:spcAft>
              <a:buClr>
                <a:schemeClr val="lt1"/>
              </a:buClr>
              <a:buSzPts val="1000"/>
              <a:buNone/>
              <a:defRPr sz="1000">
                <a:solidFill>
                  <a:schemeClr val="lt1"/>
                </a:solidFill>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83" name="Google Shape;83;p12"/>
          <p:cNvSpPr txBox="1">
            <a:spLocks noGrp="1"/>
          </p:cNvSpPr>
          <p:nvPr>
            <p:ph type="title" idx="2"/>
          </p:nvPr>
        </p:nvSpPr>
        <p:spPr>
          <a:xfrm>
            <a:off x="1080000" y="1570550"/>
            <a:ext cx="2223600" cy="660300"/>
          </a:xfrm>
          <a:prstGeom prst="rect">
            <a:avLst/>
          </a:prstGeom>
          <a:solidFill>
            <a:schemeClr val="dk1"/>
          </a:solidFill>
        </p:spPr>
        <p:txBody>
          <a:bodyPr spcFirstLastPara="1" wrap="square" lIns="91425" tIns="91425" rIns="91425" bIns="91425" anchor="t" anchorCtr="0">
            <a:spAutoFit/>
          </a:bodyPr>
          <a:lstStyle>
            <a:lvl1pPr lvl="0" algn="ctr"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endParaRPr/>
          </a:p>
        </p:txBody>
      </p:sp>
      <p:sp>
        <p:nvSpPr>
          <p:cNvPr id="84" name="Google Shape;84;p12"/>
          <p:cNvSpPr txBox="1">
            <a:spLocks noGrp="1"/>
          </p:cNvSpPr>
          <p:nvPr>
            <p:ph type="title" idx="3"/>
          </p:nvPr>
        </p:nvSpPr>
        <p:spPr>
          <a:xfrm>
            <a:off x="3460200" y="1570550"/>
            <a:ext cx="2223600" cy="660300"/>
          </a:xfrm>
          <a:prstGeom prst="rect">
            <a:avLst/>
          </a:prstGeom>
          <a:solidFill>
            <a:schemeClr val="dk1"/>
          </a:solidFill>
        </p:spPr>
        <p:txBody>
          <a:bodyPr spcFirstLastPara="1" wrap="square" lIns="91425" tIns="91425" rIns="91425" bIns="91425" anchor="t" anchorCtr="0">
            <a:spAutoFit/>
          </a:bodyPr>
          <a:lstStyle>
            <a:lvl1pPr lvl="0" algn="ctr"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endParaRPr/>
          </a:p>
        </p:txBody>
      </p:sp>
      <p:sp>
        <p:nvSpPr>
          <p:cNvPr id="85" name="Google Shape;85;p12"/>
          <p:cNvSpPr txBox="1">
            <a:spLocks noGrp="1"/>
          </p:cNvSpPr>
          <p:nvPr>
            <p:ph type="title" idx="4"/>
          </p:nvPr>
        </p:nvSpPr>
        <p:spPr>
          <a:xfrm>
            <a:off x="5840400" y="1570550"/>
            <a:ext cx="2223600" cy="660300"/>
          </a:xfrm>
          <a:prstGeom prst="rect">
            <a:avLst/>
          </a:prstGeom>
          <a:solidFill>
            <a:schemeClr val="dk1"/>
          </a:solidFill>
        </p:spPr>
        <p:txBody>
          <a:bodyPr spcFirstLastPara="1" wrap="square" lIns="91425" tIns="91425" rIns="91425" bIns="91425" anchor="t" anchorCtr="0">
            <a:spAutoFit/>
          </a:bodyPr>
          <a:lstStyle>
            <a:lvl1pPr lvl="0" algn="ctr" rtl="0">
              <a:spcBef>
                <a:spcPts val="0"/>
              </a:spcBef>
              <a:spcAft>
                <a:spcPts val="0"/>
              </a:spcAft>
              <a:buClr>
                <a:schemeClr val="lt1"/>
              </a:buClr>
              <a:buSzPts val="1400"/>
              <a:buNone/>
              <a:defRPr sz="1400" b="1">
                <a:solidFill>
                  <a:schemeClr val="lt1"/>
                </a:solidFill>
              </a:defRPr>
            </a:lvl1pPr>
            <a:lvl2pPr lvl="1" rtl="0">
              <a:spcBef>
                <a:spcPts val="0"/>
              </a:spcBef>
              <a:spcAft>
                <a:spcPts val="0"/>
              </a:spcAft>
              <a:buSzPts val="2000"/>
              <a:buNone/>
              <a:defRPr/>
            </a:lvl2pPr>
            <a:lvl3pPr lvl="2" rtl="0">
              <a:spcBef>
                <a:spcPts val="0"/>
              </a:spcBef>
              <a:spcAft>
                <a:spcPts val="0"/>
              </a:spcAft>
              <a:buSzPts val="2000"/>
              <a:buNone/>
              <a:defRPr/>
            </a:lvl3pPr>
            <a:lvl4pPr lvl="3" rtl="0">
              <a:spcBef>
                <a:spcPts val="0"/>
              </a:spcBef>
              <a:spcAft>
                <a:spcPts val="0"/>
              </a:spcAft>
              <a:buSzPts val="2000"/>
              <a:buNone/>
              <a:defRPr/>
            </a:lvl4pPr>
            <a:lvl5pPr lvl="4" rtl="0">
              <a:spcBef>
                <a:spcPts val="0"/>
              </a:spcBef>
              <a:spcAft>
                <a:spcPts val="0"/>
              </a:spcAft>
              <a:buSzPts val="2000"/>
              <a:buNone/>
              <a:defRPr/>
            </a:lvl5pPr>
            <a:lvl6pPr lvl="5" rtl="0">
              <a:spcBef>
                <a:spcPts val="0"/>
              </a:spcBef>
              <a:spcAft>
                <a:spcPts val="0"/>
              </a:spcAft>
              <a:buSzPts val="2000"/>
              <a:buNone/>
              <a:defRPr/>
            </a:lvl6pPr>
            <a:lvl7pPr lvl="6" rtl="0">
              <a:spcBef>
                <a:spcPts val="0"/>
              </a:spcBef>
              <a:spcAft>
                <a:spcPts val="0"/>
              </a:spcAft>
              <a:buSzPts val="2000"/>
              <a:buNone/>
              <a:defRPr/>
            </a:lvl7pPr>
            <a:lvl8pPr lvl="7" rtl="0">
              <a:spcBef>
                <a:spcPts val="0"/>
              </a:spcBef>
              <a:spcAft>
                <a:spcPts val="0"/>
              </a:spcAft>
              <a:buSzPts val="2000"/>
              <a:buNone/>
              <a:defRPr/>
            </a:lvl8pPr>
            <a:lvl9pPr lvl="8" rtl="0">
              <a:spcBef>
                <a:spcPts val="0"/>
              </a:spcBef>
              <a:spcAft>
                <a:spcPts val="0"/>
              </a:spcAft>
              <a:buSzPts val="2000"/>
              <a:buNone/>
              <a:defRPr/>
            </a:lvl9pPr>
          </a:lstStyle>
          <a:p>
            <a:endParaRPr/>
          </a:p>
        </p:txBody>
      </p:sp>
      <p:sp>
        <p:nvSpPr>
          <p:cNvPr id="86" name="Google Shape;86;p12"/>
          <p:cNvSpPr>
            <a:spLocks noGrp="1"/>
          </p:cNvSpPr>
          <p:nvPr>
            <p:ph type="pic" idx="5"/>
          </p:nvPr>
        </p:nvSpPr>
        <p:spPr>
          <a:xfrm>
            <a:off x="1081225" y="2230925"/>
            <a:ext cx="2223600" cy="1235700"/>
          </a:xfrm>
          <a:prstGeom prst="rect">
            <a:avLst/>
          </a:prstGeom>
          <a:noFill/>
          <a:ln>
            <a:noFill/>
          </a:ln>
        </p:spPr>
        <p:txBody>
          <a:bodyPr/>
          <a:p/>
        </p:txBody>
      </p:sp>
      <p:sp>
        <p:nvSpPr>
          <p:cNvPr id="87" name="Google Shape;87;p12"/>
          <p:cNvSpPr>
            <a:spLocks noGrp="1"/>
          </p:cNvSpPr>
          <p:nvPr>
            <p:ph type="pic" idx="6"/>
          </p:nvPr>
        </p:nvSpPr>
        <p:spPr>
          <a:xfrm>
            <a:off x="3460200" y="2230925"/>
            <a:ext cx="2223600" cy="1235700"/>
          </a:xfrm>
          <a:prstGeom prst="rect">
            <a:avLst/>
          </a:prstGeom>
          <a:noFill/>
          <a:ln>
            <a:noFill/>
          </a:ln>
        </p:spPr>
        <p:txBody>
          <a:bodyPr/>
          <a:p/>
        </p:txBody>
      </p:sp>
      <p:sp>
        <p:nvSpPr>
          <p:cNvPr id="88" name="Google Shape;88;p12"/>
          <p:cNvSpPr>
            <a:spLocks noGrp="1"/>
          </p:cNvSpPr>
          <p:nvPr>
            <p:ph type="pic" idx="7"/>
          </p:nvPr>
        </p:nvSpPr>
        <p:spPr>
          <a:xfrm>
            <a:off x="5839175" y="2230925"/>
            <a:ext cx="2223600" cy="1235700"/>
          </a:xfrm>
          <a:prstGeom prst="rect">
            <a:avLst/>
          </a:prstGeom>
          <a:noFill/>
          <a:ln>
            <a:noFill/>
          </a:ln>
        </p:spPr>
        <p:txBody>
          <a:bodyPr/>
          <a:p/>
        </p:txBody>
      </p:sp>
      <p:sp>
        <p:nvSpPr>
          <p:cNvPr id="89" name="Google Shape;89;p12"/>
          <p:cNvSpPr txBox="1">
            <a:spLocks noGrp="1"/>
          </p:cNvSpPr>
          <p:nvPr>
            <p:ph type="title" idx="8"/>
          </p:nvPr>
        </p:nvSpPr>
        <p:spPr>
          <a:xfrm>
            <a:off x="1080000" y="3638375"/>
            <a:ext cx="2223600" cy="501600"/>
          </a:xfrm>
          <a:prstGeom prst="rect">
            <a:avLst/>
          </a:prstGeom>
          <a:solidFill>
            <a:srgbClr val="D2D2D2"/>
          </a:solidFill>
        </p:spPr>
        <p:txBody>
          <a:bodyPr spcFirstLastPara="1" wrap="square" lIns="91425" tIns="91425" rIns="91425" bIns="91425" anchor="t" anchorCtr="0">
            <a:spAutoFit/>
          </a:bodyPr>
          <a:lstStyle>
            <a:lvl1pPr lvl="0" algn="ctr" rtl="0">
              <a:spcBef>
                <a:spcPts val="0"/>
              </a:spcBef>
              <a:spcAft>
                <a:spcPts val="0"/>
              </a:spcAft>
              <a:buSzPts val="800"/>
              <a:buNone/>
              <a:defRPr sz="800"/>
            </a:lvl1pPr>
            <a:lvl2pPr lvl="1" rtl="0">
              <a:spcBef>
                <a:spcPts val="0"/>
              </a:spcBef>
              <a:spcAft>
                <a:spcPts val="0"/>
              </a:spcAft>
              <a:buSzPts val="800"/>
              <a:buFont typeface="Helvetica Neue"/>
              <a:buNone/>
              <a:defRPr sz="800">
                <a:latin typeface="Helvetica Neue"/>
                <a:ea typeface="Helvetica Neue"/>
                <a:cs typeface="Helvetica Neue"/>
                <a:sym typeface="Helvetica Neue"/>
              </a:defRPr>
            </a:lvl2pPr>
            <a:lvl3pPr lvl="2" rtl="0">
              <a:spcBef>
                <a:spcPts val="0"/>
              </a:spcBef>
              <a:spcAft>
                <a:spcPts val="0"/>
              </a:spcAft>
              <a:buSzPts val="800"/>
              <a:buFont typeface="Helvetica Neue"/>
              <a:buNone/>
              <a:defRPr sz="800">
                <a:latin typeface="Helvetica Neue"/>
                <a:ea typeface="Helvetica Neue"/>
                <a:cs typeface="Helvetica Neue"/>
                <a:sym typeface="Helvetica Neue"/>
              </a:defRPr>
            </a:lvl3pPr>
            <a:lvl4pPr lvl="3" rtl="0">
              <a:spcBef>
                <a:spcPts val="0"/>
              </a:spcBef>
              <a:spcAft>
                <a:spcPts val="0"/>
              </a:spcAft>
              <a:buSzPts val="800"/>
              <a:buFont typeface="Helvetica Neue"/>
              <a:buNone/>
              <a:defRPr sz="800">
                <a:latin typeface="Helvetica Neue"/>
                <a:ea typeface="Helvetica Neue"/>
                <a:cs typeface="Helvetica Neue"/>
                <a:sym typeface="Helvetica Neue"/>
              </a:defRPr>
            </a:lvl4pPr>
            <a:lvl5pPr lvl="4" rtl="0">
              <a:spcBef>
                <a:spcPts val="0"/>
              </a:spcBef>
              <a:spcAft>
                <a:spcPts val="0"/>
              </a:spcAft>
              <a:buSzPts val="800"/>
              <a:buFont typeface="Helvetica Neue"/>
              <a:buNone/>
              <a:defRPr sz="800">
                <a:latin typeface="Helvetica Neue"/>
                <a:ea typeface="Helvetica Neue"/>
                <a:cs typeface="Helvetica Neue"/>
                <a:sym typeface="Helvetica Neue"/>
              </a:defRPr>
            </a:lvl5pPr>
            <a:lvl6pPr lvl="5" rtl="0">
              <a:spcBef>
                <a:spcPts val="0"/>
              </a:spcBef>
              <a:spcAft>
                <a:spcPts val="0"/>
              </a:spcAft>
              <a:buSzPts val="800"/>
              <a:buFont typeface="Helvetica Neue"/>
              <a:buNone/>
              <a:defRPr sz="800">
                <a:latin typeface="Helvetica Neue"/>
                <a:ea typeface="Helvetica Neue"/>
                <a:cs typeface="Helvetica Neue"/>
                <a:sym typeface="Helvetica Neue"/>
              </a:defRPr>
            </a:lvl6pPr>
            <a:lvl7pPr lvl="6" rtl="0">
              <a:spcBef>
                <a:spcPts val="0"/>
              </a:spcBef>
              <a:spcAft>
                <a:spcPts val="0"/>
              </a:spcAft>
              <a:buSzPts val="800"/>
              <a:buFont typeface="Helvetica Neue"/>
              <a:buNone/>
              <a:defRPr sz="800">
                <a:latin typeface="Helvetica Neue"/>
                <a:ea typeface="Helvetica Neue"/>
                <a:cs typeface="Helvetica Neue"/>
                <a:sym typeface="Helvetica Neue"/>
              </a:defRPr>
            </a:lvl7pPr>
            <a:lvl8pPr lvl="7" rtl="0">
              <a:spcBef>
                <a:spcPts val="0"/>
              </a:spcBef>
              <a:spcAft>
                <a:spcPts val="0"/>
              </a:spcAft>
              <a:buSzPts val="800"/>
              <a:buFont typeface="Helvetica Neue"/>
              <a:buNone/>
              <a:defRPr sz="800">
                <a:latin typeface="Helvetica Neue"/>
                <a:ea typeface="Helvetica Neue"/>
                <a:cs typeface="Helvetica Neue"/>
                <a:sym typeface="Helvetica Neue"/>
              </a:defRPr>
            </a:lvl8pPr>
            <a:lvl9pPr lvl="8" rtl="0">
              <a:spcBef>
                <a:spcPts val="0"/>
              </a:spcBef>
              <a:spcAft>
                <a:spcPts val="0"/>
              </a:spcAft>
              <a:buSzPts val="800"/>
              <a:buFont typeface="Helvetica Neue"/>
              <a:buNone/>
              <a:defRPr sz="800">
                <a:latin typeface="Helvetica Neue"/>
                <a:ea typeface="Helvetica Neue"/>
                <a:cs typeface="Helvetica Neue"/>
                <a:sym typeface="Helvetica Neue"/>
              </a:defRPr>
            </a:lvl9pPr>
          </a:lstStyle>
          <a:p>
            <a:endParaRPr/>
          </a:p>
        </p:txBody>
      </p:sp>
      <p:sp>
        <p:nvSpPr>
          <p:cNvPr id="90" name="Google Shape;90;p12"/>
          <p:cNvSpPr txBox="1">
            <a:spLocks noGrp="1"/>
          </p:cNvSpPr>
          <p:nvPr>
            <p:ph type="title" idx="9"/>
          </p:nvPr>
        </p:nvSpPr>
        <p:spPr>
          <a:xfrm>
            <a:off x="3460200" y="3638375"/>
            <a:ext cx="2223600" cy="501600"/>
          </a:xfrm>
          <a:prstGeom prst="rect">
            <a:avLst/>
          </a:prstGeom>
          <a:solidFill>
            <a:srgbClr val="D2D2D2"/>
          </a:solidFill>
        </p:spPr>
        <p:txBody>
          <a:bodyPr spcFirstLastPara="1" wrap="square" lIns="91425" tIns="91425" rIns="91425" bIns="91425" anchor="t" anchorCtr="0">
            <a:spAutoFit/>
          </a:bodyPr>
          <a:lstStyle>
            <a:lvl1pPr lvl="0" algn="ctr" rtl="0">
              <a:spcBef>
                <a:spcPts val="0"/>
              </a:spcBef>
              <a:spcAft>
                <a:spcPts val="0"/>
              </a:spcAft>
              <a:buSzPts val="800"/>
              <a:buNone/>
              <a:defRPr sz="800"/>
            </a:lvl1pPr>
            <a:lvl2pPr lvl="1" rtl="0">
              <a:spcBef>
                <a:spcPts val="0"/>
              </a:spcBef>
              <a:spcAft>
                <a:spcPts val="0"/>
              </a:spcAft>
              <a:buSzPts val="800"/>
              <a:buFont typeface="Helvetica Neue"/>
              <a:buNone/>
              <a:defRPr sz="800">
                <a:latin typeface="Helvetica Neue"/>
                <a:ea typeface="Helvetica Neue"/>
                <a:cs typeface="Helvetica Neue"/>
                <a:sym typeface="Helvetica Neue"/>
              </a:defRPr>
            </a:lvl2pPr>
            <a:lvl3pPr lvl="2" rtl="0">
              <a:spcBef>
                <a:spcPts val="0"/>
              </a:spcBef>
              <a:spcAft>
                <a:spcPts val="0"/>
              </a:spcAft>
              <a:buSzPts val="800"/>
              <a:buFont typeface="Helvetica Neue"/>
              <a:buNone/>
              <a:defRPr sz="800">
                <a:latin typeface="Helvetica Neue"/>
                <a:ea typeface="Helvetica Neue"/>
                <a:cs typeface="Helvetica Neue"/>
                <a:sym typeface="Helvetica Neue"/>
              </a:defRPr>
            </a:lvl3pPr>
            <a:lvl4pPr lvl="3" rtl="0">
              <a:spcBef>
                <a:spcPts val="0"/>
              </a:spcBef>
              <a:spcAft>
                <a:spcPts val="0"/>
              </a:spcAft>
              <a:buSzPts val="800"/>
              <a:buFont typeface="Helvetica Neue"/>
              <a:buNone/>
              <a:defRPr sz="800">
                <a:latin typeface="Helvetica Neue"/>
                <a:ea typeface="Helvetica Neue"/>
                <a:cs typeface="Helvetica Neue"/>
                <a:sym typeface="Helvetica Neue"/>
              </a:defRPr>
            </a:lvl4pPr>
            <a:lvl5pPr lvl="4" rtl="0">
              <a:spcBef>
                <a:spcPts val="0"/>
              </a:spcBef>
              <a:spcAft>
                <a:spcPts val="0"/>
              </a:spcAft>
              <a:buSzPts val="800"/>
              <a:buFont typeface="Helvetica Neue"/>
              <a:buNone/>
              <a:defRPr sz="800">
                <a:latin typeface="Helvetica Neue"/>
                <a:ea typeface="Helvetica Neue"/>
                <a:cs typeface="Helvetica Neue"/>
                <a:sym typeface="Helvetica Neue"/>
              </a:defRPr>
            </a:lvl5pPr>
            <a:lvl6pPr lvl="5" rtl="0">
              <a:spcBef>
                <a:spcPts val="0"/>
              </a:spcBef>
              <a:spcAft>
                <a:spcPts val="0"/>
              </a:spcAft>
              <a:buSzPts val="800"/>
              <a:buFont typeface="Helvetica Neue"/>
              <a:buNone/>
              <a:defRPr sz="800">
                <a:latin typeface="Helvetica Neue"/>
                <a:ea typeface="Helvetica Neue"/>
                <a:cs typeface="Helvetica Neue"/>
                <a:sym typeface="Helvetica Neue"/>
              </a:defRPr>
            </a:lvl6pPr>
            <a:lvl7pPr lvl="6" rtl="0">
              <a:spcBef>
                <a:spcPts val="0"/>
              </a:spcBef>
              <a:spcAft>
                <a:spcPts val="0"/>
              </a:spcAft>
              <a:buSzPts val="800"/>
              <a:buFont typeface="Helvetica Neue"/>
              <a:buNone/>
              <a:defRPr sz="800">
                <a:latin typeface="Helvetica Neue"/>
                <a:ea typeface="Helvetica Neue"/>
                <a:cs typeface="Helvetica Neue"/>
                <a:sym typeface="Helvetica Neue"/>
              </a:defRPr>
            </a:lvl7pPr>
            <a:lvl8pPr lvl="7" rtl="0">
              <a:spcBef>
                <a:spcPts val="0"/>
              </a:spcBef>
              <a:spcAft>
                <a:spcPts val="0"/>
              </a:spcAft>
              <a:buSzPts val="800"/>
              <a:buFont typeface="Helvetica Neue"/>
              <a:buNone/>
              <a:defRPr sz="800">
                <a:latin typeface="Helvetica Neue"/>
                <a:ea typeface="Helvetica Neue"/>
                <a:cs typeface="Helvetica Neue"/>
                <a:sym typeface="Helvetica Neue"/>
              </a:defRPr>
            </a:lvl8pPr>
            <a:lvl9pPr lvl="8" rtl="0">
              <a:spcBef>
                <a:spcPts val="0"/>
              </a:spcBef>
              <a:spcAft>
                <a:spcPts val="0"/>
              </a:spcAft>
              <a:buSzPts val="800"/>
              <a:buFont typeface="Helvetica Neue"/>
              <a:buNone/>
              <a:defRPr sz="800">
                <a:latin typeface="Helvetica Neue"/>
                <a:ea typeface="Helvetica Neue"/>
                <a:cs typeface="Helvetica Neue"/>
                <a:sym typeface="Helvetica Neue"/>
              </a:defRPr>
            </a:lvl9pPr>
          </a:lstStyle>
          <a:p>
            <a:endParaRPr/>
          </a:p>
        </p:txBody>
      </p:sp>
      <p:sp>
        <p:nvSpPr>
          <p:cNvPr id="91" name="Google Shape;91;p12"/>
          <p:cNvSpPr txBox="1">
            <a:spLocks noGrp="1"/>
          </p:cNvSpPr>
          <p:nvPr>
            <p:ph type="title" idx="13"/>
          </p:nvPr>
        </p:nvSpPr>
        <p:spPr>
          <a:xfrm>
            <a:off x="5840400" y="3638375"/>
            <a:ext cx="2223600" cy="501600"/>
          </a:xfrm>
          <a:prstGeom prst="rect">
            <a:avLst/>
          </a:prstGeom>
          <a:solidFill>
            <a:srgbClr val="D2D2D2"/>
          </a:solidFill>
        </p:spPr>
        <p:txBody>
          <a:bodyPr spcFirstLastPara="1" wrap="square" lIns="91425" tIns="91425" rIns="91425" bIns="91425" anchor="t" anchorCtr="0">
            <a:spAutoFit/>
          </a:bodyPr>
          <a:lstStyle>
            <a:lvl1pPr lvl="0" algn="ctr" rtl="0">
              <a:spcBef>
                <a:spcPts val="0"/>
              </a:spcBef>
              <a:spcAft>
                <a:spcPts val="0"/>
              </a:spcAft>
              <a:buSzPts val="800"/>
              <a:buNone/>
              <a:defRPr sz="800"/>
            </a:lvl1pPr>
            <a:lvl2pPr lvl="1" rtl="0">
              <a:spcBef>
                <a:spcPts val="0"/>
              </a:spcBef>
              <a:spcAft>
                <a:spcPts val="0"/>
              </a:spcAft>
              <a:buSzPts val="800"/>
              <a:buFont typeface="Helvetica Neue"/>
              <a:buNone/>
              <a:defRPr sz="800">
                <a:latin typeface="Helvetica Neue"/>
                <a:ea typeface="Helvetica Neue"/>
                <a:cs typeface="Helvetica Neue"/>
                <a:sym typeface="Helvetica Neue"/>
              </a:defRPr>
            </a:lvl2pPr>
            <a:lvl3pPr lvl="2" rtl="0">
              <a:spcBef>
                <a:spcPts val="0"/>
              </a:spcBef>
              <a:spcAft>
                <a:spcPts val="0"/>
              </a:spcAft>
              <a:buSzPts val="800"/>
              <a:buFont typeface="Helvetica Neue"/>
              <a:buNone/>
              <a:defRPr sz="800">
                <a:latin typeface="Helvetica Neue"/>
                <a:ea typeface="Helvetica Neue"/>
                <a:cs typeface="Helvetica Neue"/>
                <a:sym typeface="Helvetica Neue"/>
              </a:defRPr>
            </a:lvl3pPr>
            <a:lvl4pPr lvl="3" rtl="0">
              <a:spcBef>
                <a:spcPts val="0"/>
              </a:spcBef>
              <a:spcAft>
                <a:spcPts val="0"/>
              </a:spcAft>
              <a:buSzPts val="800"/>
              <a:buFont typeface="Helvetica Neue"/>
              <a:buNone/>
              <a:defRPr sz="800">
                <a:latin typeface="Helvetica Neue"/>
                <a:ea typeface="Helvetica Neue"/>
                <a:cs typeface="Helvetica Neue"/>
                <a:sym typeface="Helvetica Neue"/>
              </a:defRPr>
            </a:lvl4pPr>
            <a:lvl5pPr lvl="4" rtl="0">
              <a:spcBef>
                <a:spcPts val="0"/>
              </a:spcBef>
              <a:spcAft>
                <a:spcPts val="0"/>
              </a:spcAft>
              <a:buSzPts val="800"/>
              <a:buFont typeface="Helvetica Neue"/>
              <a:buNone/>
              <a:defRPr sz="800">
                <a:latin typeface="Helvetica Neue"/>
                <a:ea typeface="Helvetica Neue"/>
                <a:cs typeface="Helvetica Neue"/>
                <a:sym typeface="Helvetica Neue"/>
              </a:defRPr>
            </a:lvl5pPr>
            <a:lvl6pPr lvl="5" rtl="0">
              <a:spcBef>
                <a:spcPts val="0"/>
              </a:spcBef>
              <a:spcAft>
                <a:spcPts val="0"/>
              </a:spcAft>
              <a:buSzPts val="800"/>
              <a:buFont typeface="Helvetica Neue"/>
              <a:buNone/>
              <a:defRPr sz="800">
                <a:latin typeface="Helvetica Neue"/>
                <a:ea typeface="Helvetica Neue"/>
                <a:cs typeface="Helvetica Neue"/>
                <a:sym typeface="Helvetica Neue"/>
              </a:defRPr>
            </a:lvl6pPr>
            <a:lvl7pPr lvl="6" rtl="0">
              <a:spcBef>
                <a:spcPts val="0"/>
              </a:spcBef>
              <a:spcAft>
                <a:spcPts val="0"/>
              </a:spcAft>
              <a:buSzPts val="800"/>
              <a:buFont typeface="Helvetica Neue"/>
              <a:buNone/>
              <a:defRPr sz="800">
                <a:latin typeface="Helvetica Neue"/>
                <a:ea typeface="Helvetica Neue"/>
                <a:cs typeface="Helvetica Neue"/>
                <a:sym typeface="Helvetica Neue"/>
              </a:defRPr>
            </a:lvl7pPr>
            <a:lvl8pPr lvl="7" rtl="0">
              <a:spcBef>
                <a:spcPts val="0"/>
              </a:spcBef>
              <a:spcAft>
                <a:spcPts val="0"/>
              </a:spcAft>
              <a:buSzPts val="800"/>
              <a:buFont typeface="Helvetica Neue"/>
              <a:buNone/>
              <a:defRPr sz="800">
                <a:latin typeface="Helvetica Neue"/>
                <a:ea typeface="Helvetica Neue"/>
                <a:cs typeface="Helvetica Neue"/>
                <a:sym typeface="Helvetica Neue"/>
              </a:defRPr>
            </a:lvl8pPr>
            <a:lvl9pPr lvl="8" rtl="0">
              <a:spcBef>
                <a:spcPts val="0"/>
              </a:spcBef>
              <a:spcAft>
                <a:spcPts val="0"/>
              </a:spcAft>
              <a:buSzPts val="800"/>
              <a:buFont typeface="Helvetica Neue"/>
              <a:buNone/>
              <a:defRPr sz="800">
                <a:latin typeface="Helvetica Neue"/>
                <a:ea typeface="Helvetica Neue"/>
                <a:cs typeface="Helvetica Neue"/>
                <a:sym typeface="Helvetica Neu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ubtitle Page 2" type="tx">
  <p:cSld name="TITLE_AND_BODY">
    <p:spTree>
      <p:nvGrpSpPr>
        <p:cNvPr id="1" name="Shape 92"/>
        <p:cNvGrpSpPr/>
        <p:nvPr/>
      </p:nvGrpSpPr>
      <p:grpSpPr>
        <a:xfrm>
          <a:off x="0" y="0"/>
          <a:ext cx="0" cy="0"/>
          <a:chOff x="0" y="0"/>
          <a:chExt cx="0" cy="0"/>
        </a:xfrm>
      </p:grpSpPr>
      <p:sp>
        <p:nvSpPr>
          <p:cNvPr id="93" name="Google Shape;93;p13"/>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pic>
        <p:nvPicPr>
          <p:cNvPr id="94" name="Google Shape;94;p13" title="4.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95" name="Google Shape;95;p13"/>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rgbClr val="9D5330"/>
              </a:buClr>
              <a:buSzPts val="2200"/>
              <a:buFont typeface="Helvetica Neue"/>
              <a:buNone/>
              <a:defRPr sz="2200" b="1">
                <a:solidFill>
                  <a:srgbClr val="9D5330"/>
                </a:solidFill>
                <a:latin typeface="Helvetica Neue"/>
                <a:ea typeface="Helvetica Neue"/>
                <a:cs typeface="Helvetica Neue"/>
                <a:sym typeface="Helvetica Neue"/>
              </a:defRPr>
            </a:lvl1pPr>
            <a:lvl2pPr lvl="1">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2pPr>
            <a:lvl3pPr lvl="2">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3pPr>
            <a:lvl4pPr lvl="3">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4pPr>
            <a:lvl5pPr lvl="4">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5pPr>
            <a:lvl6pPr lvl="5">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6pPr>
            <a:lvl7pPr lvl="6">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7pPr>
            <a:lvl8pPr lvl="7">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8pPr>
            <a:lvl9pPr lvl="8">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9pPr>
          </a:lstStyle>
          <a:p>
            <a:endParaRPr/>
          </a:p>
        </p:txBody>
      </p:sp>
      <p:sp>
        <p:nvSpPr>
          <p:cNvPr id="96" name="Google Shape;96;p13"/>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rgbClr val="9D5330"/>
                </a:solidFill>
                <a:latin typeface="Helvetica Neue Light"/>
                <a:ea typeface="Helvetica Neue Light"/>
                <a:cs typeface="Helvetica Neue Light"/>
                <a:sym typeface="Helvetica Neue Light"/>
              </a:defRPr>
            </a:lvl1pPr>
            <a:lvl2pPr lvl="1" algn="r">
              <a:buNone/>
              <a:defRPr sz="600">
                <a:solidFill>
                  <a:srgbClr val="9D5330"/>
                </a:solidFill>
                <a:latin typeface="Helvetica Neue Light"/>
                <a:ea typeface="Helvetica Neue Light"/>
                <a:cs typeface="Helvetica Neue Light"/>
                <a:sym typeface="Helvetica Neue Light"/>
              </a:defRPr>
            </a:lvl2pPr>
            <a:lvl3pPr lvl="2" algn="r">
              <a:buNone/>
              <a:defRPr sz="600">
                <a:solidFill>
                  <a:srgbClr val="9D5330"/>
                </a:solidFill>
                <a:latin typeface="Helvetica Neue Light"/>
                <a:ea typeface="Helvetica Neue Light"/>
                <a:cs typeface="Helvetica Neue Light"/>
                <a:sym typeface="Helvetica Neue Light"/>
              </a:defRPr>
            </a:lvl3pPr>
            <a:lvl4pPr lvl="3" algn="r">
              <a:buNone/>
              <a:defRPr sz="600">
                <a:solidFill>
                  <a:srgbClr val="9D5330"/>
                </a:solidFill>
                <a:latin typeface="Helvetica Neue Light"/>
                <a:ea typeface="Helvetica Neue Light"/>
                <a:cs typeface="Helvetica Neue Light"/>
                <a:sym typeface="Helvetica Neue Light"/>
              </a:defRPr>
            </a:lvl4pPr>
            <a:lvl5pPr lvl="4" algn="r">
              <a:buNone/>
              <a:defRPr sz="600">
                <a:solidFill>
                  <a:srgbClr val="9D5330"/>
                </a:solidFill>
                <a:latin typeface="Helvetica Neue Light"/>
                <a:ea typeface="Helvetica Neue Light"/>
                <a:cs typeface="Helvetica Neue Light"/>
                <a:sym typeface="Helvetica Neue Light"/>
              </a:defRPr>
            </a:lvl5pPr>
            <a:lvl6pPr lvl="5" algn="r">
              <a:buNone/>
              <a:defRPr sz="600">
                <a:solidFill>
                  <a:srgbClr val="9D5330"/>
                </a:solidFill>
                <a:latin typeface="Helvetica Neue Light"/>
                <a:ea typeface="Helvetica Neue Light"/>
                <a:cs typeface="Helvetica Neue Light"/>
                <a:sym typeface="Helvetica Neue Light"/>
              </a:defRPr>
            </a:lvl6pPr>
            <a:lvl7pPr lvl="6" algn="r">
              <a:buNone/>
              <a:defRPr sz="600">
                <a:solidFill>
                  <a:srgbClr val="9D5330"/>
                </a:solidFill>
                <a:latin typeface="Helvetica Neue Light"/>
                <a:ea typeface="Helvetica Neue Light"/>
                <a:cs typeface="Helvetica Neue Light"/>
                <a:sym typeface="Helvetica Neue Light"/>
              </a:defRPr>
            </a:lvl7pPr>
            <a:lvl8pPr lvl="7" algn="r">
              <a:buNone/>
              <a:defRPr sz="600">
                <a:solidFill>
                  <a:srgbClr val="9D5330"/>
                </a:solidFill>
                <a:latin typeface="Helvetica Neue Light"/>
                <a:ea typeface="Helvetica Neue Light"/>
                <a:cs typeface="Helvetica Neue Light"/>
                <a:sym typeface="Helvetica Neue Light"/>
              </a:defRPr>
            </a:lvl8pPr>
            <a:lvl9pPr lvl="8" algn="r">
              <a:buNone/>
              <a:defRPr sz="600">
                <a:solidFill>
                  <a:srgbClr val="9D5330"/>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97" name="Google Shape;97;p13"/>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rgbClr val="9D5330"/>
                </a:solidFill>
                <a:latin typeface="Helvetica Neue"/>
                <a:ea typeface="Helvetica Neue"/>
                <a:cs typeface="Helvetica Neue"/>
                <a:sym typeface="Helvetica Neue"/>
              </a:rPr>
              <a:t>© Marni 2026, All rights reserved</a:t>
            </a:r>
            <a:endParaRPr sz="600">
              <a:solidFill>
                <a:srgbClr val="9D5330"/>
              </a:solidFill>
              <a:latin typeface="Helvetica Neue"/>
              <a:ea typeface="Helvetica Neue"/>
              <a:cs typeface="Helvetica Neue"/>
              <a:sym typeface="Helvetica Neue"/>
            </a:endParaRPr>
          </a:p>
        </p:txBody>
      </p:sp>
      <p:sp>
        <p:nvSpPr>
          <p:cNvPr id="98" name="Google Shape;98;p13"/>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rgbClr val="9D5330"/>
                </a:solidFill>
                <a:latin typeface="Helvetica Neue Light"/>
                <a:ea typeface="Helvetica Neue Light"/>
                <a:cs typeface="Helvetica Neue Light"/>
                <a:sym typeface="Helvetica Neue Light"/>
              </a:rPr>
              <a:t>August 26</a:t>
            </a:r>
            <a:endParaRPr sz="600">
              <a:solidFill>
                <a:srgbClr val="9D5330"/>
              </a:solidFill>
              <a:latin typeface="Helvetica Neue Light"/>
              <a:ea typeface="Helvetica Neue Light"/>
              <a:cs typeface="Helvetica Neue Light"/>
              <a:sym typeface="Helvetica Neue Ligh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age 1">
  <p:cSld name="TITLE_AND_BODY_1">
    <p:spTree>
      <p:nvGrpSpPr>
        <p:cNvPr id="1" name="Shape 99"/>
        <p:cNvGrpSpPr/>
        <p:nvPr/>
      </p:nvGrpSpPr>
      <p:grpSpPr>
        <a:xfrm>
          <a:off x="0" y="0"/>
          <a:ext cx="0" cy="0"/>
          <a:chOff x="0" y="0"/>
          <a:chExt cx="0" cy="0"/>
        </a:xfrm>
      </p:grpSpPr>
      <p:sp>
        <p:nvSpPr>
          <p:cNvPr id="100" name="Google Shape;100;p14"/>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pic>
        <p:nvPicPr>
          <p:cNvPr id="101" name="Google Shape;101;p14" title="4.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102" name="Google Shape;102;p14"/>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rgbClr val="9D5330"/>
                </a:solidFill>
                <a:latin typeface="Helvetica Neue Light"/>
                <a:ea typeface="Helvetica Neue Light"/>
                <a:cs typeface="Helvetica Neue Light"/>
                <a:sym typeface="Helvetica Neue Light"/>
              </a:defRPr>
            </a:lvl1pPr>
            <a:lvl2pPr lvl="1" algn="r">
              <a:buNone/>
              <a:defRPr sz="600">
                <a:solidFill>
                  <a:srgbClr val="9D5330"/>
                </a:solidFill>
                <a:latin typeface="Helvetica Neue Light"/>
                <a:ea typeface="Helvetica Neue Light"/>
                <a:cs typeface="Helvetica Neue Light"/>
                <a:sym typeface="Helvetica Neue Light"/>
              </a:defRPr>
            </a:lvl2pPr>
            <a:lvl3pPr lvl="2" algn="r">
              <a:buNone/>
              <a:defRPr sz="600">
                <a:solidFill>
                  <a:srgbClr val="9D5330"/>
                </a:solidFill>
                <a:latin typeface="Helvetica Neue Light"/>
                <a:ea typeface="Helvetica Neue Light"/>
                <a:cs typeface="Helvetica Neue Light"/>
                <a:sym typeface="Helvetica Neue Light"/>
              </a:defRPr>
            </a:lvl3pPr>
            <a:lvl4pPr lvl="3" algn="r">
              <a:buNone/>
              <a:defRPr sz="600">
                <a:solidFill>
                  <a:srgbClr val="9D5330"/>
                </a:solidFill>
                <a:latin typeface="Helvetica Neue Light"/>
                <a:ea typeface="Helvetica Neue Light"/>
                <a:cs typeface="Helvetica Neue Light"/>
                <a:sym typeface="Helvetica Neue Light"/>
              </a:defRPr>
            </a:lvl4pPr>
            <a:lvl5pPr lvl="4" algn="r">
              <a:buNone/>
              <a:defRPr sz="600">
                <a:solidFill>
                  <a:srgbClr val="9D5330"/>
                </a:solidFill>
                <a:latin typeface="Helvetica Neue Light"/>
                <a:ea typeface="Helvetica Neue Light"/>
                <a:cs typeface="Helvetica Neue Light"/>
                <a:sym typeface="Helvetica Neue Light"/>
              </a:defRPr>
            </a:lvl5pPr>
            <a:lvl6pPr lvl="5" algn="r">
              <a:buNone/>
              <a:defRPr sz="600">
                <a:solidFill>
                  <a:srgbClr val="9D5330"/>
                </a:solidFill>
                <a:latin typeface="Helvetica Neue Light"/>
                <a:ea typeface="Helvetica Neue Light"/>
                <a:cs typeface="Helvetica Neue Light"/>
                <a:sym typeface="Helvetica Neue Light"/>
              </a:defRPr>
            </a:lvl6pPr>
            <a:lvl7pPr lvl="6" algn="r">
              <a:buNone/>
              <a:defRPr sz="600">
                <a:solidFill>
                  <a:srgbClr val="9D5330"/>
                </a:solidFill>
                <a:latin typeface="Helvetica Neue Light"/>
                <a:ea typeface="Helvetica Neue Light"/>
                <a:cs typeface="Helvetica Neue Light"/>
                <a:sym typeface="Helvetica Neue Light"/>
              </a:defRPr>
            </a:lvl7pPr>
            <a:lvl8pPr lvl="7" algn="r">
              <a:buNone/>
              <a:defRPr sz="600">
                <a:solidFill>
                  <a:srgbClr val="9D5330"/>
                </a:solidFill>
                <a:latin typeface="Helvetica Neue Light"/>
                <a:ea typeface="Helvetica Neue Light"/>
                <a:cs typeface="Helvetica Neue Light"/>
                <a:sym typeface="Helvetica Neue Light"/>
              </a:defRPr>
            </a:lvl8pPr>
            <a:lvl9pPr lvl="8" algn="r">
              <a:buNone/>
              <a:defRPr sz="600">
                <a:solidFill>
                  <a:srgbClr val="9D5330"/>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103" name="Google Shape;103;p14"/>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rgbClr val="9D5330"/>
                </a:solidFill>
                <a:latin typeface="Helvetica Neue"/>
                <a:ea typeface="Helvetica Neue"/>
                <a:cs typeface="Helvetica Neue"/>
                <a:sym typeface="Helvetica Neue"/>
              </a:rPr>
              <a:t>© Marni 2026, All rights reserved</a:t>
            </a:r>
            <a:endParaRPr sz="600">
              <a:solidFill>
                <a:srgbClr val="9D5330"/>
              </a:solidFill>
              <a:latin typeface="Helvetica Neue"/>
              <a:ea typeface="Helvetica Neue"/>
              <a:cs typeface="Helvetica Neue"/>
              <a:sym typeface="Helvetica Neue"/>
            </a:endParaRPr>
          </a:p>
        </p:txBody>
      </p:sp>
      <p:sp>
        <p:nvSpPr>
          <p:cNvPr id="104" name="Google Shape;104;p14"/>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rgbClr val="9D5330"/>
                </a:solidFill>
                <a:latin typeface="Helvetica Neue Light"/>
                <a:ea typeface="Helvetica Neue Light"/>
                <a:cs typeface="Helvetica Neue Light"/>
                <a:sym typeface="Helvetica Neue Light"/>
              </a:rPr>
              <a:t>August 26</a:t>
            </a:r>
            <a:endParaRPr sz="600">
              <a:solidFill>
                <a:srgbClr val="9D5330"/>
              </a:solidFill>
              <a:latin typeface="Helvetica Neue Light"/>
              <a:ea typeface="Helvetica Neue Light"/>
              <a:cs typeface="Helvetica Neue Light"/>
              <a:sym typeface="Helvetica Neue Light"/>
            </a:endParaRPr>
          </a:p>
        </p:txBody>
      </p:sp>
      <p:sp>
        <p:nvSpPr>
          <p:cNvPr id="105" name="Google Shape;105;p14"/>
          <p:cNvSpPr txBox="1">
            <a:spLocks noGrp="1"/>
          </p:cNvSpPr>
          <p:nvPr>
            <p:ph type="subTitle" idx="1"/>
          </p:nvPr>
        </p:nvSpPr>
        <p:spPr>
          <a:xfrm>
            <a:off x="1080000" y="2046550"/>
            <a:ext cx="6984000" cy="4617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Clr>
                <a:srgbClr val="9D5330"/>
              </a:buClr>
              <a:buSzPts val="2200"/>
              <a:buFont typeface="Helvetica Neue"/>
              <a:buNone/>
              <a:defRPr sz="2200" b="1">
                <a:solidFill>
                  <a:srgbClr val="9D5330"/>
                </a:solidFill>
                <a:latin typeface="Helvetica Neue"/>
                <a:ea typeface="Helvetica Neue"/>
                <a:cs typeface="Helvetica Neue"/>
                <a:sym typeface="Helvetica Neue"/>
              </a:defRPr>
            </a:lvl1pPr>
            <a:lvl2pPr lvl="1">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2pPr>
            <a:lvl3pPr lvl="2">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3pPr>
            <a:lvl4pPr lvl="3">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4pPr>
            <a:lvl5pPr lvl="4">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5pPr>
            <a:lvl6pPr lvl="5">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6pPr>
            <a:lvl7pPr lvl="6">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7pPr>
            <a:lvl8pPr lvl="7">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8pPr>
            <a:lvl9pPr lvl="8">
              <a:lnSpc>
                <a:spcPct val="100000"/>
              </a:lnSpc>
              <a:spcBef>
                <a:spcPts val="0"/>
              </a:spcBef>
              <a:spcAft>
                <a:spcPts val="0"/>
              </a:spcAft>
              <a:buClr>
                <a:srgbClr val="9B4C09"/>
              </a:buClr>
              <a:buSzPts val="2800"/>
              <a:buFont typeface="Helvetica Neue"/>
              <a:buNone/>
              <a:defRPr sz="2800" b="1">
                <a:solidFill>
                  <a:srgbClr val="9B4C09"/>
                </a:solidFill>
                <a:latin typeface="Helvetica Neue"/>
                <a:ea typeface="Helvetica Neue"/>
                <a:cs typeface="Helvetica Neue"/>
                <a:sym typeface="Helvetica Neue"/>
              </a:defRPr>
            </a:lvl9pPr>
          </a:lstStyle>
          <a:p>
            <a:endParaRPr/>
          </a:p>
        </p:txBody>
      </p:sp>
      <p:sp>
        <p:nvSpPr>
          <p:cNvPr id="106" name="Google Shape;106;p14"/>
          <p:cNvSpPr txBox="1">
            <a:spLocks noGrp="1"/>
          </p:cNvSpPr>
          <p:nvPr>
            <p:ph type="title"/>
          </p:nvPr>
        </p:nvSpPr>
        <p:spPr>
          <a:xfrm>
            <a:off x="1080000" y="1720750"/>
            <a:ext cx="6984000" cy="325800"/>
          </a:xfrm>
          <a:prstGeom prst="rect">
            <a:avLst/>
          </a:prstGeom>
          <a:noFill/>
        </p:spPr>
        <p:txBody>
          <a:bodyPr spcFirstLastPara="1" wrap="square" lIns="91425" tIns="91425" rIns="91425" bIns="91425" anchor="t" anchorCtr="0">
            <a:spAutoFit/>
          </a:bodyPr>
          <a:lstStyle>
            <a:lvl1pPr lvl="0" algn="ctr">
              <a:spcBef>
                <a:spcPts val="0"/>
              </a:spcBef>
              <a:spcAft>
                <a:spcPts val="0"/>
              </a:spcAft>
              <a:buClr>
                <a:srgbClr val="9D5330"/>
              </a:buClr>
              <a:buSzPts val="1000"/>
              <a:buNone/>
              <a:defRPr sz="1000">
                <a:solidFill>
                  <a:srgbClr val="9D5330"/>
                </a:solidFill>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age 2">
  <p:cSld name="TITLE_AND_BODY_1_1">
    <p:spTree>
      <p:nvGrpSpPr>
        <p:cNvPr id="1" name="Shape 107"/>
        <p:cNvGrpSpPr/>
        <p:nvPr/>
      </p:nvGrpSpPr>
      <p:grpSpPr>
        <a:xfrm>
          <a:off x="0" y="0"/>
          <a:ext cx="0" cy="0"/>
          <a:chOff x="0" y="0"/>
          <a:chExt cx="0" cy="0"/>
        </a:xfrm>
      </p:grpSpPr>
      <p:sp>
        <p:nvSpPr>
          <p:cNvPr id="108" name="Google Shape;108;p15"/>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pic>
        <p:nvPicPr>
          <p:cNvPr id="109" name="Google Shape;109;p15" title="13.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110" name="Google Shape;110;p15"/>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lt1"/>
                </a:solidFill>
                <a:latin typeface="Helvetica Neue Light"/>
                <a:ea typeface="Helvetica Neue Light"/>
                <a:cs typeface="Helvetica Neue Light"/>
                <a:sym typeface="Helvetica Neue Light"/>
              </a:defRPr>
            </a:lvl1pPr>
            <a:lvl2pPr lvl="1" algn="r">
              <a:buNone/>
              <a:defRPr sz="600">
                <a:solidFill>
                  <a:schemeClr val="lt1"/>
                </a:solidFill>
                <a:latin typeface="Helvetica Neue Light"/>
                <a:ea typeface="Helvetica Neue Light"/>
                <a:cs typeface="Helvetica Neue Light"/>
                <a:sym typeface="Helvetica Neue Light"/>
              </a:defRPr>
            </a:lvl2pPr>
            <a:lvl3pPr lvl="2" algn="r">
              <a:buNone/>
              <a:defRPr sz="600">
                <a:solidFill>
                  <a:schemeClr val="lt1"/>
                </a:solidFill>
                <a:latin typeface="Helvetica Neue Light"/>
                <a:ea typeface="Helvetica Neue Light"/>
                <a:cs typeface="Helvetica Neue Light"/>
                <a:sym typeface="Helvetica Neue Light"/>
              </a:defRPr>
            </a:lvl3pPr>
            <a:lvl4pPr lvl="3" algn="r">
              <a:buNone/>
              <a:defRPr sz="600">
                <a:solidFill>
                  <a:schemeClr val="lt1"/>
                </a:solidFill>
                <a:latin typeface="Helvetica Neue Light"/>
                <a:ea typeface="Helvetica Neue Light"/>
                <a:cs typeface="Helvetica Neue Light"/>
                <a:sym typeface="Helvetica Neue Light"/>
              </a:defRPr>
            </a:lvl4pPr>
            <a:lvl5pPr lvl="4" algn="r">
              <a:buNone/>
              <a:defRPr sz="600">
                <a:solidFill>
                  <a:schemeClr val="lt1"/>
                </a:solidFill>
                <a:latin typeface="Helvetica Neue Light"/>
                <a:ea typeface="Helvetica Neue Light"/>
                <a:cs typeface="Helvetica Neue Light"/>
                <a:sym typeface="Helvetica Neue Light"/>
              </a:defRPr>
            </a:lvl5pPr>
            <a:lvl6pPr lvl="5" algn="r">
              <a:buNone/>
              <a:defRPr sz="600">
                <a:solidFill>
                  <a:schemeClr val="lt1"/>
                </a:solidFill>
                <a:latin typeface="Helvetica Neue Light"/>
                <a:ea typeface="Helvetica Neue Light"/>
                <a:cs typeface="Helvetica Neue Light"/>
                <a:sym typeface="Helvetica Neue Light"/>
              </a:defRPr>
            </a:lvl6pPr>
            <a:lvl7pPr lvl="6" algn="r">
              <a:buNone/>
              <a:defRPr sz="600">
                <a:solidFill>
                  <a:schemeClr val="lt1"/>
                </a:solidFill>
                <a:latin typeface="Helvetica Neue Light"/>
                <a:ea typeface="Helvetica Neue Light"/>
                <a:cs typeface="Helvetica Neue Light"/>
                <a:sym typeface="Helvetica Neue Light"/>
              </a:defRPr>
            </a:lvl7pPr>
            <a:lvl8pPr lvl="7" algn="r">
              <a:buNone/>
              <a:defRPr sz="600">
                <a:solidFill>
                  <a:schemeClr val="lt1"/>
                </a:solidFill>
                <a:latin typeface="Helvetica Neue Light"/>
                <a:ea typeface="Helvetica Neue Light"/>
                <a:cs typeface="Helvetica Neue Light"/>
                <a:sym typeface="Helvetica Neue Light"/>
              </a:defRPr>
            </a:lvl8pPr>
            <a:lvl9pPr lvl="8" algn="r">
              <a:buNone/>
              <a:defRPr sz="600">
                <a:solidFill>
                  <a:schemeClr val="lt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111" name="Google Shape;111;p15"/>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lt1"/>
                </a:solidFill>
                <a:latin typeface="Helvetica Neue"/>
                <a:ea typeface="Helvetica Neue"/>
                <a:cs typeface="Helvetica Neue"/>
                <a:sym typeface="Helvetica Neue"/>
              </a:rPr>
              <a:t>© Marni 2026, All rights reserved</a:t>
            </a:r>
            <a:endParaRPr sz="600">
              <a:solidFill>
                <a:schemeClr val="lt1"/>
              </a:solidFill>
              <a:latin typeface="Helvetica Neue"/>
              <a:ea typeface="Helvetica Neue"/>
              <a:cs typeface="Helvetica Neue"/>
              <a:sym typeface="Helvetica Neue"/>
            </a:endParaRPr>
          </a:p>
        </p:txBody>
      </p:sp>
      <p:sp>
        <p:nvSpPr>
          <p:cNvPr id="112" name="Google Shape;112;p15"/>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lt1"/>
                </a:solidFill>
                <a:latin typeface="Helvetica Neue Light"/>
                <a:ea typeface="Helvetica Neue Light"/>
                <a:cs typeface="Helvetica Neue Light"/>
                <a:sym typeface="Helvetica Neue Light"/>
              </a:rPr>
              <a:t>August 26</a:t>
            </a:r>
            <a:endParaRPr sz="600">
              <a:solidFill>
                <a:schemeClr val="lt1"/>
              </a:solidFill>
              <a:latin typeface="Helvetica Neue Light"/>
              <a:ea typeface="Helvetica Neue Light"/>
              <a:cs typeface="Helvetica Neue Light"/>
              <a:sym typeface="Helvetica Neue Light"/>
            </a:endParaRPr>
          </a:p>
        </p:txBody>
      </p:sp>
      <p:sp>
        <p:nvSpPr>
          <p:cNvPr id="113" name="Google Shape;113;p15"/>
          <p:cNvSpPr txBox="1">
            <a:spLocks noGrp="1"/>
          </p:cNvSpPr>
          <p:nvPr>
            <p:ph type="subTitle" idx="1"/>
          </p:nvPr>
        </p:nvSpPr>
        <p:spPr>
          <a:xfrm>
            <a:off x="1080000" y="2046550"/>
            <a:ext cx="6984000" cy="4617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Clr>
                <a:schemeClr val="lt1"/>
              </a:buClr>
              <a:buSzPts val="2200"/>
              <a:buFont typeface="Helvetica Neue"/>
              <a:buNone/>
              <a:defRPr sz="2200" b="1">
                <a:solidFill>
                  <a:schemeClr val="lt1"/>
                </a:solidFill>
                <a:latin typeface="Helvetica Neue"/>
                <a:ea typeface="Helvetica Neue"/>
                <a:cs typeface="Helvetica Neue"/>
                <a:sym typeface="Helvetica Neue"/>
              </a:defRPr>
            </a:lvl1pPr>
            <a:lvl2pPr lvl="1">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2pPr>
            <a:lvl3pPr lvl="2">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3pPr>
            <a:lvl4pPr lvl="3">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4pPr>
            <a:lvl5pPr lvl="4">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5pPr>
            <a:lvl6pPr lvl="5">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6pPr>
            <a:lvl7pPr lvl="6">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7pPr>
            <a:lvl8pPr lvl="7">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8pPr>
            <a:lvl9pPr lvl="8">
              <a:lnSpc>
                <a:spcPct val="100000"/>
              </a:lnSpc>
              <a:spcBef>
                <a:spcPts val="0"/>
              </a:spcBef>
              <a:spcAft>
                <a:spcPts val="0"/>
              </a:spcAft>
              <a:buClr>
                <a:schemeClr val="lt1"/>
              </a:buClr>
              <a:buSzPts val="2800"/>
              <a:buFont typeface="Helvetica Neue"/>
              <a:buNone/>
              <a:defRPr sz="2800" b="1">
                <a:solidFill>
                  <a:schemeClr val="lt1"/>
                </a:solidFill>
                <a:latin typeface="Helvetica Neue"/>
                <a:ea typeface="Helvetica Neue"/>
                <a:cs typeface="Helvetica Neue"/>
                <a:sym typeface="Helvetica Neue"/>
              </a:defRPr>
            </a:lvl9pPr>
          </a:lstStyle>
          <a:p>
            <a:endParaRPr/>
          </a:p>
        </p:txBody>
      </p:sp>
      <p:sp>
        <p:nvSpPr>
          <p:cNvPr id="114" name="Google Shape;114;p15"/>
          <p:cNvSpPr txBox="1">
            <a:spLocks noGrp="1"/>
          </p:cNvSpPr>
          <p:nvPr>
            <p:ph type="title"/>
          </p:nvPr>
        </p:nvSpPr>
        <p:spPr>
          <a:xfrm>
            <a:off x="1080000" y="1720750"/>
            <a:ext cx="6984000" cy="325800"/>
          </a:xfrm>
          <a:prstGeom prst="rect">
            <a:avLst/>
          </a:prstGeom>
          <a:noFill/>
        </p:spPr>
        <p:txBody>
          <a:bodyPr spcFirstLastPara="1" wrap="square" lIns="91425" tIns="91425" rIns="91425" bIns="91425" anchor="t" anchorCtr="0">
            <a:spAutoFit/>
          </a:bodyPr>
          <a:lstStyle>
            <a:lvl1pPr lvl="0" algn="ctr">
              <a:spcBef>
                <a:spcPts val="0"/>
              </a:spcBef>
              <a:spcAft>
                <a:spcPts val="0"/>
              </a:spcAft>
              <a:buClr>
                <a:schemeClr val="lt1"/>
              </a:buClr>
              <a:buSzPts val="1000"/>
              <a:buNone/>
              <a:defRPr sz="1000">
                <a:solidFill>
                  <a:schemeClr val="lt1"/>
                </a:solidFill>
              </a:defRPr>
            </a:lvl1pPr>
            <a:lvl2pPr lvl="1">
              <a:spcBef>
                <a:spcPts val="0"/>
              </a:spcBef>
              <a:spcAft>
                <a:spcPts val="0"/>
              </a:spcAft>
              <a:buClr>
                <a:schemeClr val="lt1"/>
              </a:buClr>
              <a:buSzPts val="2000"/>
              <a:buNone/>
              <a:defRPr>
                <a:solidFill>
                  <a:schemeClr val="lt1"/>
                </a:solidFill>
              </a:defRPr>
            </a:lvl2pPr>
            <a:lvl3pPr lvl="2">
              <a:spcBef>
                <a:spcPts val="0"/>
              </a:spcBef>
              <a:spcAft>
                <a:spcPts val="0"/>
              </a:spcAft>
              <a:buClr>
                <a:schemeClr val="lt1"/>
              </a:buClr>
              <a:buSzPts val="2000"/>
              <a:buNone/>
              <a:defRPr>
                <a:solidFill>
                  <a:schemeClr val="lt1"/>
                </a:solidFill>
              </a:defRPr>
            </a:lvl3pPr>
            <a:lvl4pPr lvl="3">
              <a:spcBef>
                <a:spcPts val="0"/>
              </a:spcBef>
              <a:spcAft>
                <a:spcPts val="0"/>
              </a:spcAft>
              <a:buClr>
                <a:schemeClr val="lt1"/>
              </a:buClr>
              <a:buSzPts val="2000"/>
              <a:buNone/>
              <a:defRPr>
                <a:solidFill>
                  <a:schemeClr val="lt1"/>
                </a:solidFill>
              </a:defRPr>
            </a:lvl4pPr>
            <a:lvl5pPr lvl="4">
              <a:spcBef>
                <a:spcPts val="0"/>
              </a:spcBef>
              <a:spcAft>
                <a:spcPts val="0"/>
              </a:spcAft>
              <a:buClr>
                <a:schemeClr val="lt1"/>
              </a:buClr>
              <a:buSzPts val="2000"/>
              <a:buNone/>
              <a:defRPr>
                <a:solidFill>
                  <a:schemeClr val="lt1"/>
                </a:solidFill>
              </a:defRPr>
            </a:lvl5pPr>
            <a:lvl6pPr lvl="5">
              <a:spcBef>
                <a:spcPts val="0"/>
              </a:spcBef>
              <a:spcAft>
                <a:spcPts val="0"/>
              </a:spcAft>
              <a:buClr>
                <a:schemeClr val="lt1"/>
              </a:buClr>
              <a:buSzPts val="2000"/>
              <a:buNone/>
              <a:defRPr>
                <a:solidFill>
                  <a:schemeClr val="lt1"/>
                </a:solidFill>
              </a:defRPr>
            </a:lvl6pPr>
            <a:lvl7pPr lvl="6">
              <a:spcBef>
                <a:spcPts val="0"/>
              </a:spcBef>
              <a:spcAft>
                <a:spcPts val="0"/>
              </a:spcAft>
              <a:buClr>
                <a:schemeClr val="lt1"/>
              </a:buClr>
              <a:buSzPts val="2000"/>
              <a:buNone/>
              <a:defRPr>
                <a:solidFill>
                  <a:schemeClr val="lt1"/>
                </a:solidFill>
              </a:defRPr>
            </a:lvl7pPr>
            <a:lvl8pPr lvl="7">
              <a:spcBef>
                <a:spcPts val="0"/>
              </a:spcBef>
              <a:spcAft>
                <a:spcPts val="0"/>
              </a:spcAft>
              <a:buClr>
                <a:schemeClr val="lt1"/>
              </a:buClr>
              <a:buSzPts val="2000"/>
              <a:buNone/>
              <a:defRPr>
                <a:solidFill>
                  <a:schemeClr val="lt1"/>
                </a:solidFill>
              </a:defRPr>
            </a:lvl8pPr>
            <a:lvl9pPr lvl="8">
              <a:spcBef>
                <a:spcPts val="0"/>
              </a:spcBef>
              <a:spcAft>
                <a:spcPts val="0"/>
              </a:spcAft>
              <a:buClr>
                <a:schemeClr val="lt1"/>
              </a:buClr>
              <a:buSzPts val="2000"/>
              <a:buNone/>
              <a:defRPr>
                <a:solidFill>
                  <a:schemeClr val="lt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Page 3">
  <p:cSld name="TITLE_AND_BODY_1_1_1">
    <p:spTree>
      <p:nvGrpSpPr>
        <p:cNvPr id="1" name="Shape 115"/>
        <p:cNvGrpSpPr/>
        <p:nvPr/>
      </p:nvGrpSpPr>
      <p:grpSpPr>
        <a:xfrm>
          <a:off x="0" y="0"/>
          <a:ext cx="0" cy="0"/>
          <a:chOff x="0" y="0"/>
          <a:chExt cx="0" cy="0"/>
        </a:xfrm>
      </p:grpSpPr>
      <p:sp>
        <p:nvSpPr>
          <p:cNvPr id="116" name="Google Shape;116;p16"/>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pic>
        <p:nvPicPr>
          <p:cNvPr id="117" name="Google Shape;117;p16" title="13.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118" name="Google Shape;118;p16"/>
          <p:cNvSpPr txBox="1">
            <a:spLocks noGrp="1"/>
          </p:cNvSpPr>
          <p:nvPr>
            <p:ph type="subTitle" idx="1"/>
          </p:nvPr>
        </p:nvSpPr>
        <p:spPr>
          <a:xfrm>
            <a:off x="1080000" y="2046550"/>
            <a:ext cx="6984000" cy="461700"/>
          </a:xfrm>
          <a:prstGeom prst="rect">
            <a:avLst/>
          </a:prstGeom>
        </p:spPr>
        <p:txBody>
          <a:bodyPr spcFirstLastPara="1" wrap="square" lIns="91425" tIns="91425" rIns="91425" bIns="91425" anchor="t" anchorCtr="0">
            <a:spAutoFit/>
          </a:bodyPr>
          <a:lstStyle>
            <a:lvl1pPr lvl="0" algn="ctr">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119" name="Google Shape;119;p16"/>
          <p:cNvSpPr txBox="1">
            <a:spLocks noGrp="1"/>
          </p:cNvSpPr>
          <p:nvPr>
            <p:ph type="title"/>
          </p:nvPr>
        </p:nvSpPr>
        <p:spPr>
          <a:xfrm>
            <a:off x="1080000" y="1720750"/>
            <a:ext cx="6984000" cy="325800"/>
          </a:xfrm>
          <a:prstGeom prst="rect">
            <a:avLst/>
          </a:prstGeom>
          <a:noFill/>
        </p:spPr>
        <p:txBody>
          <a:bodyPr spcFirstLastPara="1" wrap="square" lIns="91425" tIns="91425" rIns="91425" bIns="91425" anchor="t" anchorCtr="0">
            <a:spAutoFit/>
          </a:bodyPr>
          <a:lstStyle>
            <a:lvl1pPr lvl="0" algn="ctr">
              <a:spcBef>
                <a:spcPts val="0"/>
              </a:spcBef>
              <a:spcAft>
                <a:spcPts val="0"/>
              </a:spcAft>
              <a:buSzPts val="1000"/>
              <a:buNone/>
              <a:defRPr sz="1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20" name="Google Shape;120;p16"/>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121" name="Google Shape;121;p16"/>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dk1"/>
                </a:solidFill>
                <a:latin typeface="Helvetica Neue"/>
                <a:ea typeface="Helvetica Neue"/>
                <a:cs typeface="Helvetica Neue"/>
                <a:sym typeface="Helvetica Neue"/>
              </a:rPr>
              <a:t>© Marni 2026, All rights reserved</a:t>
            </a:r>
            <a:endParaRPr sz="600">
              <a:solidFill>
                <a:schemeClr val="dk2"/>
              </a:solidFill>
              <a:latin typeface="Helvetica Neue"/>
              <a:ea typeface="Helvetica Neue"/>
              <a:cs typeface="Helvetica Neue"/>
              <a:sym typeface="Helvetica Neue"/>
            </a:endParaRPr>
          </a:p>
        </p:txBody>
      </p:sp>
      <p:sp>
        <p:nvSpPr>
          <p:cNvPr id="122" name="Google Shape;122;p16"/>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dk1"/>
                </a:solidFill>
                <a:latin typeface="Helvetica Neue Light"/>
                <a:ea typeface="Helvetica Neue Light"/>
                <a:cs typeface="Helvetica Neue Light"/>
                <a:sym typeface="Helvetica Neue Light"/>
              </a:rPr>
              <a:t>August 26</a:t>
            </a:r>
            <a:endParaRPr sz="600">
              <a:solidFill>
                <a:schemeClr val="dk2"/>
              </a:solidFill>
              <a:latin typeface="Helvetica Neue Light"/>
              <a:ea typeface="Helvetica Neue Light"/>
              <a:cs typeface="Helvetica Neue Light"/>
              <a:sym typeface="Helvetica Neue Ligh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co Page">
  <p:cSld name="SECTION_HEADER_2">
    <p:spTree>
      <p:nvGrpSpPr>
        <p:cNvPr id="1" name="Shape 123"/>
        <p:cNvGrpSpPr/>
        <p:nvPr/>
      </p:nvGrpSpPr>
      <p:grpSpPr>
        <a:xfrm>
          <a:off x="0" y="0"/>
          <a:ext cx="0" cy="0"/>
          <a:chOff x="0" y="0"/>
          <a:chExt cx="0" cy="0"/>
        </a:xfrm>
      </p:grpSpPr>
      <p:pic>
        <p:nvPicPr>
          <p:cNvPr id="124" name="Google Shape;124;p17" title="42.jpg"/>
          <p:cNvPicPr preferRelativeResize="0"/>
          <p:nvPr/>
        </p:nvPicPr>
        <p:blipFill rotWithShape="1">
          <a:blip r:embed="rId2">
            <a:alphaModFix/>
          </a:blip>
          <a:srcRect/>
          <a:stretch/>
        </p:blipFill>
        <p:spPr>
          <a:xfrm>
            <a:off x="0" y="0"/>
            <a:ext cx="9144003" cy="5143499"/>
          </a:xfrm>
          <a:prstGeom prst="rect">
            <a:avLst/>
          </a:prstGeom>
          <a:noFill/>
          <a:ln>
            <a:noFill/>
          </a:ln>
        </p:spPr>
      </p:pic>
      <p:sp>
        <p:nvSpPr>
          <p:cNvPr id="125" name="Google Shape;125;p17"/>
          <p:cNvSpPr txBox="1">
            <a:spLocks noGrp="1"/>
          </p:cNvSpPr>
          <p:nvPr>
            <p:ph type="subTitle" idx="1"/>
          </p:nvPr>
        </p:nvSpPr>
        <p:spPr>
          <a:xfrm>
            <a:off x="1079995" y="168107"/>
            <a:ext cx="5010600" cy="461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SzPts val="2200"/>
              <a:buFont typeface="Helvetica Neue"/>
              <a:buNone/>
              <a:defRPr sz="2200" b="1">
                <a:latin typeface="Helvetica Neue"/>
                <a:ea typeface="Helvetica Neue"/>
                <a:cs typeface="Helvetica Neue"/>
                <a:sym typeface="Helvetica Neue"/>
              </a:defRPr>
            </a:lvl1pPr>
            <a:lvl2pPr lvl="1">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2pPr>
            <a:lvl3pPr lvl="2">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3pPr>
            <a:lvl4pPr lvl="3">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4pPr>
            <a:lvl5pPr lvl="4">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5pPr>
            <a:lvl6pPr lvl="5">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6pPr>
            <a:lvl7pPr lvl="6">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7pPr>
            <a:lvl8pPr lvl="7">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8pPr>
            <a:lvl9pPr lvl="8">
              <a:lnSpc>
                <a:spcPct val="100000"/>
              </a:lnSpc>
              <a:spcBef>
                <a:spcPts val="0"/>
              </a:spcBef>
              <a:spcAft>
                <a:spcPts val="0"/>
              </a:spcAft>
              <a:buSzPts val="2800"/>
              <a:buFont typeface="Helvetica Neue"/>
              <a:buNone/>
              <a:defRPr sz="2800" b="1">
                <a:latin typeface="Helvetica Neue"/>
                <a:ea typeface="Helvetica Neue"/>
                <a:cs typeface="Helvetica Neue"/>
                <a:sym typeface="Helvetica Neue"/>
              </a:defRPr>
            </a:lvl9pPr>
          </a:lstStyle>
          <a:p>
            <a:endParaRPr/>
          </a:p>
        </p:txBody>
      </p:sp>
      <p:sp>
        <p:nvSpPr>
          <p:cNvPr id="126" name="Google Shape;126;p17"/>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a:latin typeface="Inter Light"/>
              <a:ea typeface="Inter Light"/>
              <a:cs typeface="Inter Light"/>
              <a:sym typeface="Inter Light"/>
            </a:endParaRPr>
          </a:p>
        </p:txBody>
      </p:sp>
      <p:sp>
        <p:nvSpPr>
          <p:cNvPr id="127" name="Google Shape;127;p17"/>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dk1"/>
                </a:solidFill>
                <a:latin typeface="Helvetica Neue"/>
                <a:ea typeface="Helvetica Neue"/>
                <a:cs typeface="Helvetica Neue"/>
                <a:sym typeface="Helvetica Neue"/>
              </a:rPr>
              <a:t>© Marni 2026, All rights reserved</a:t>
            </a:r>
            <a:endParaRPr sz="600">
              <a:solidFill>
                <a:schemeClr val="dk2"/>
              </a:solidFill>
              <a:latin typeface="Helvetica Neue"/>
              <a:ea typeface="Helvetica Neue"/>
              <a:cs typeface="Helvetica Neue"/>
              <a:sym typeface="Helvetica Neue"/>
            </a:endParaRPr>
          </a:p>
        </p:txBody>
      </p:sp>
      <p:sp>
        <p:nvSpPr>
          <p:cNvPr id="128" name="Google Shape;128;p17"/>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dk1"/>
                </a:solidFill>
                <a:latin typeface="Helvetica Neue Light"/>
                <a:ea typeface="Helvetica Neue Light"/>
                <a:cs typeface="Helvetica Neue Light"/>
                <a:sym typeface="Helvetica Neue Light"/>
              </a:rPr>
              <a:t>August 26</a:t>
            </a:r>
            <a:endParaRPr sz="600">
              <a:solidFill>
                <a:schemeClr val="dk2"/>
              </a:solidFill>
              <a:latin typeface="Helvetica Neue Light"/>
              <a:ea typeface="Helvetica Neue Light"/>
              <a:cs typeface="Helvetica Neue Light"/>
              <a:sym typeface="Helvetica Neue Light"/>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6" name="Google Shape;6;p1" title="3.jpg"/>
          <p:cNvPicPr preferRelativeResize="0"/>
          <p:nvPr/>
        </p:nvPicPr>
        <p:blipFill rotWithShape="1">
          <a:blip r:embed="rId18">
            <a:alphaModFix/>
          </a:blip>
          <a:srcRect/>
          <a:stretch/>
        </p:blipFill>
        <p:spPr>
          <a:xfrm>
            <a:off x="0" y="0"/>
            <a:ext cx="9144003" cy="5143499"/>
          </a:xfrm>
          <a:prstGeom prst="rect">
            <a:avLst/>
          </a:prstGeom>
          <a:noFill/>
          <a:ln>
            <a:noFill/>
          </a:ln>
        </p:spPr>
      </p:pic>
      <p:sp>
        <p:nvSpPr>
          <p:cNvPr id="7" name="Google Shape;7;p1"/>
          <p:cNvSpPr txBox="1">
            <a:spLocks noGrp="1"/>
          </p:cNvSpPr>
          <p:nvPr>
            <p:ph type="title"/>
          </p:nvPr>
        </p:nvSpPr>
        <p:spPr>
          <a:xfrm>
            <a:off x="311700" y="445025"/>
            <a:ext cx="8520600" cy="4896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dk1"/>
              </a:buClr>
              <a:buSzPts val="2000"/>
              <a:buFont typeface="Helvetica Neue"/>
              <a:buNone/>
              <a:defRPr sz="2000">
                <a:solidFill>
                  <a:schemeClr val="dk1"/>
                </a:solidFill>
                <a:latin typeface="Helvetica Neue"/>
                <a:ea typeface="Helvetica Neue"/>
                <a:cs typeface="Helvetica Neue"/>
                <a:sym typeface="Helvetica Neue"/>
              </a:defRPr>
            </a:lvl1pPr>
            <a:lvl2pPr lvl="1">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2pPr>
            <a:lvl3pPr lvl="2">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3pPr>
            <a:lvl4pPr lvl="3">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4pPr>
            <a:lvl5pPr lvl="4">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5pPr>
            <a:lvl6pPr lvl="5">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6pPr>
            <a:lvl7pPr lvl="6">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7pPr>
            <a:lvl8pPr lvl="7">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8pPr>
            <a:lvl9pPr lvl="8">
              <a:spcBef>
                <a:spcPts val="0"/>
              </a:spcBef>
              <a:spcAft>
                <a:spcPts val="0"/>
              </a:spcAft>
              <a:buClr>
                <a:schemeClr val="dk1"/>
              </a:buClr>
              <a:buSzPts val="2000"/>
              <a:buFont typeface="Inter Medium"/>
              <a:buNone/>
              <a:defRPr sz="2000">
                <a:solidFill>
                  <a:schemeClr val="dk1"/>
                </a:solidFill>
                <a:latin typeface="Inter Medium"/>
                <a:ea typeface="Inter Medium"/>
                <a:cs typeface="Inter Medium"/>
                <a:sym typeface="Inter Medium"/>
              </a:defRPr>
            </a:lvl9pPr>
          </a:lstStyle>
          <a:p>
            <a:endParaRPr/>
          </a:p>
        </p:txBody>
      </p:sp>
      <p:sp>
        <p:nvSpPr>
          <p:cNvPr id="8" name="Google Shape;8;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30200" rtl="0">
              <a:lnSpc>
                <a:spcPct val="115000"/>
              </a:lnSpc>
              <a:spcBef>
                <a:spcPts val="0"/>
              </a:spcBef>
              <a:spcAft>
                <a:spcPts val="0"/>
              </a:spcAft>
              <a:buClr>
                <a:schemeClr val="dk1"/>
              </a:buClr>
              <a:buSzPts val="1600"/>
              <a:buFont typeface="Helvetica Neue"/>
              <a:buChar char="●"/>
              <a:defRPr sz="1600">
                <a:solidFill>
                  <a:schemeClr val="dk1"/>
                </a:solidFill>
                <a:latin typeface="Helvetica Neue"/>
                <a:ea typeface="Helvetica Neue"/>
                <a:cs typeface="Helvetica Neue"/>
                <a:sym typeface="Helvetica Neue"/>
              </a:defRPr>
            </a:lvl1pPr>
            <a:lvl2pPr marL="914400" lvl="1" indent="-317500">
              <a:lnSpc>
                <a:spcPct val="115000"/>
              </a:lnSpc>
              <a:spcBef>
                <a:spcPts val="0"/>
              </a:spcBef>
              <a:spcAft>
                <a:spcPts val="0"/>
              </a:spcAft>
              <a:buClr>
                <a:schemeClr val="dk1"/>
              </a:buClr>
              <a:buSzPts val="1400"/>
              <a:buFont typeface="Helvetica Neue Light"/>
              <a:buChar char="○"/>
              <a:defRPr>
                <a:solidFill>
                  <a:schemeClr val="dk1"/>
                </a:solidFill>
                <a:latin typeface="Helvetica Neue Light"/>
                <a:ea typeface="Helvetica Neue Light"/>
                <a:cs typeface="Helvetica Neue Light"/>
                <a:sym typeface="Helvetica Neue Light"/>
              </a:defRPr>
            </a:lvl2pPr>
            <a:lvl3pPr marL="1371600" lvl="2" indent="-304800">
              <a:lnSpc>
                <a:spcPct val="115000"/>
              </a:lnSpc>
              <a:spcBef>
                <a:spcPts val="0"/>
              </a:spcBef>
              <a:spcAft>
                <a:spcPts val="0"/>
              </a:spcAft>
              <a:buClr>
                <a:schemeClr val="dk1"/>
              </a:buClr>
              <a:buSzPts val="1200"/>
              <a:buFont typeface="Helvetica Neue"/>
              <a:buChar char="■"/>
              <a:defRPr sz="1200">
                <a:solidFill>
                  <a:schemeClr val="dk1"/>
                </a:solidFill>
                <a:latin typeface="Helvetica Neue"/>
                <a:ea typeface="Helvetica Neue"/>
                <a:cs typeface="Helvetica Neue"/>
                <a:sym typeface="Helvetica Neue"/>
              </a:defRPr>
            </a:lvl3pPr>
            <a:lvl4pPr marL="1828800" lvl="3" indent="-304800">
              <a:lnSpc>
                <a:spcPct val="115000"/>
              </a:lnSpc>
              <a:spcBef>
                <a:spcPts val="0"/>
              </a:spcBef>
              <a:spcAft>
                <a:spcPts val="0"/>
              </a:spcAft>
              <a:buClr>
                <a:schemeClr val="dk1"/>
              </a:buClr>
              <a:buSzPts val="1200"/>
              <a:buFont typeface="Helvetica Neue Light"/>
              <a:buChar char="●"/>
              <a:defRPr sz="1200">
                <a:solidFill>
                  <a:schemeClr val="dk1"/>
                </a:solidFill>
                <a:latin typeface="Helvetica Neue Light"/>
                <a:ea typeface="Helvetica Neue Light"/>
                <a:cs typeface="Helvetica Neue Light"/>
                <a:sym typeface="Helvetica Neue Light"/>
              </a:defRPr>
            </a:lvl4pPr>
            <a:lvl5pPr marL="2286000" lvl="4" indent="-285750">
              <a:lnSpc>
                <a:spcPct val="115000"/>
              </a:lnSpc>
              <a:spcBef>
                <a:spcPts val="0"/>
              </a:spcBef>
              <a:spcAft>
                <a:spcPts val="0"/>
              </a:spcAft>
              <a:buClr>
                <a:schemeClr val="dk1"/>
              </a:buClr>
              <a:buSzPts val="900"/>
              <a:buFont typeface="Helvetica Neue"/>
              <a:buChar char="○"/>
              <a:defRPr sz="900">
                <a:solidFill>
                  <a:schemeClr val="dk1"/>
                </a:solidFill>
                <a:latin typeface="Helvetica Neue"/>
                <a:ea typeface="Helvetica Neue"/>
                <a:cs typeface="Helvetica Neue"/>
                <a:sym typeface="Helvetica Neue"/>
              </a:defRPr>
            </a:lvl5pPr>
            <a:lvl6pPr marL="2743200" lvl="5" indent="-285750">
              <a:lnSpc>
                <a:spcPct val="115000"/>
              </a:lnSpc>
              <a:spcBef>
                <a:spcPts val="0"/>
              </a:spcBef>
              <a:spcAft>
                <a:spcPts val="0"/>
              </a:spcAft>
              <a:buClr>
                <a:schemeClr val="dk1"/>
              </a:buClr>
              <a:buSzPts val="900"/>
              <a:buFont typeface="Helvetica Neue Light"/>
              <a:buChar char="■"/>
              <a:defRPr sz="900">
                <a:solidFill>
                  <a:schemeClr val="dk1"/>
                </a:solidFill>
                <a:latin typeface="Helvetica Neue Light"/>
                <a:ea typeface="Helvetica Neue Light"/>
                <a:cs typeface="Helvetica Neue Light"/>
                <a:sym typeface="Helvetica Neue Light"/>
              </a:defRPr>
            </a:lvl6pPr>
            <a:lvl7pPr marL="3200400" lvl="6" indent="-285750" rtl="0">
              <a:lnSpc>
                <a:spcPct val="115000"/>
              </a:lnSpc>
              <a:spcBef>
                <a:spcPts val="0"/>
              </a:spcBef>
              <a:spcAft>
                <a:spcPts val="0"/>
              </a:spcAft>
              <a:buClr>
                <a:schemeClr val="dk1"/>
              </a:buClr>
              <a:buSzPts val="900"/>
              <a:buFont typeface="Helvetica Neue"/>
              <a:buChar char="●"/>
              <a:defRPr sz="900">
                <a:solidFill>
                  <a:schemeClr val="dk1"/>
                </a:solidFill>
                <a:latin typeface="Helvetica Neue"/>
                <a:ea typeface="Helvetica Neue"/>
                <a:cs typeface="Helvetica Neue"/>
                <a:sym typeface="Helvetica Neue"/>
              </a:defRPr>
            </a:lvl7pPr>
            <a:lvl8pPr marL="3657600" lvl="7" indent="-285750">
              <a:lnSpc>
                <a:spcPct val="115000"/>
              </a:lnSpc>
              <a:spcBef>
                <a:spcPts val="0"/>
              </a:spcBef>
              <a:spcAft>
                <a:spcPts val="0"/>
              </a:spcAft>
              <a:buClr>
                <a:schemeClr val="dk1"/>
              </a:buClr>
              <a:buSzPts val="900"/>
              <a:buFont typeface="Helvetica Neue"/>
              <a:buChar char="○"/>
              <a:defRPr sz="900">
                <a:solidFill>
                  <a:schemeClr val="dk1"/>
                </a:solidFill>
                <a:latin typeface="Helvetica Neue"/>
                <a:ea typeface="Helvetica Neue"/>
                <a:cs typeface="Helvetica Neue"/>
                <a:sym typeface="Helvetica Neue"/>
              </a:defRPr>
            </a:lvl8pPr>
            <a:lvl9pPr marL="4114800" lvl="8" indent="-285750">
              <a:lnSpc>
                <a:spcPct val="115000"/>
              </a:lnSpc>
              <a:spcBef>
                <a:spcPts val="0"/>
              </a:spcBef>
              <a:spcAft>
                <a:spcPts val="0"/>
              </a:spcAft>
              <a:buClr>
                <a:schemeClr val="dk1"/>
              </a:buClr>
              <a:buSzPts val="900"/>
              <a:buFont typeface="Helvetica Neue"/>
              <a:buChar char="■"/>
              <a:defRPr sz="900">
                <a:solidFill>
                  <a:schemeClr val="dk1"/>
                </a:solidFill>
                <a:latin typeface="Helvetica Neue"/>
                <a:ea typeface="Helvetica Neue"/>
                <a:cs typeface="Helvetica Neue"/>
                <a:sym typeface="Helvetica Neue"/>
              </a:defRPr>
            </a:lvl9pPr>
          </a:lstStyle>
          <a:p>
            <a:endParaRPr/>
          </a:p>
        </p:txBody>
      </p:sp>
      <p:sp>
        <p:nvSpPr>
          <p:cNvPr id="9" name="Google Shape;9;p1"/>
          <p:cNvSpPr txBox="1">
            <a:spLocks noGrp="1"/>
          </p:cNvSpPr>
          <p:nvPr>
            <p:ph type="sldNum" idx="12"/>
          </p:nvPr>
        </p:nvSpPr>
        <p:spPr>
          <a:xfrm>
            <a:off x="8113758" y="4740600"/>
            <a:ext cx="852900" cy="276900"/>
          </a:xfrm>
          <a:prstGeom prst="rect">
            <a:avLst/>
          </a:prstGeom>
          <a:noFill/>
          <a:ln>
            <a:noFill/>
          </a:ln>
        </p:spPr>
        <p:txBody>
          <a:bodyPr spcFirstLastPara="1" wrap="square" lIns="91425" tIns="91425" rIns="91425" bIns="91425" anchor="ctr" anchorCtr="0">
            <a:spAutoFit/>
          </a:bodyPr>
          <a:lstStyle>
            <a:lvl1pPr lvl="0" algn="r">
              <a:buNone/>
              <a:defRPr sz="600">
                <a:solidFill>
                  <a:schemeClr val="dk1"/>
                </a:solidFill>
                <a:latin typeface="Helvetica Neue Light"/>
                <a:ea typeface="Helvetica Neue Light"/>
                <a:cs typeface="Helvetica Neue Light"/>
                <a:sym typeface="Helvetica Neue Light"/>
              </a:defRPr>
            </a:lvl1pPr>
            <a:lvl2pPr lvl="1" algn="r">
              <a:buNone/>
              <a:defRPr sz="600">
                <a:solidFill>
                  <a:schemeClr val="dk1"/>
                </a:solidFill>
                <a:latin typeface="Helvetica Neue Light"/>
                <a:ea typeface="Helvetica Neue Light"/>
                <a:cs typeface="Helvetica Neue Light"/>
                <a:sym typeface="Helvetica Neue Light"/>
              </a:defRPr>
            </a:lvl2pPr>
            <a:lvl3pPr lvl="2" algn="r">
              <a:buNone/>
              <a:defRPr sz="600">
                <a:solidFill>
                  <a:schemeClr val="dk1"/>
                </a:solidFill>
                <a:latin typeface="Helvetica Neue Light"/>
                <a:ea typeface="Helvetica Neue Light"/>
                <a:cs typeface="Helvetica Neue Light"/>
                <a:sym typeface="Helvetica Neue Light"/>
              </a:defRPr>
            </a:lvl3pPr>
            <a:lvl4pPr lvl="3" algn="r">
              <a:buNone/>
              <a:defRPr sz="600">
                <a:solidFill>
                  <a:schemeClr val="dk1"/>
                </a:solidFill>
                <a:latin typeface="Helvetica Neue Light"/>
                <a:ea typeface="Helvetica Neue Light"/>
                <a:cs typeface="Helvetica Neue Light"/>
                <a:sym typeface="Helvetica Neue Light"/>
              </a:defRPr>
            </a:lvl4pPr>
            <a:lvl5pPr lvl="4" algn="r">
              <a:buNone/>
              <a:defRPr sz="600">
                <a:solidFill>
                  <a:schemeClr val="dk1"/>
                </a:solidFill>
                <a:latin typeface="Helvetica Neue Light"/>
                <a:ea typeface="Helvetica Neue Light"/>
                <a:cs typeface="Helvetica Neue Light"/>
                <a:sym typeface="Helvetica Neue Light"/>
              </a:defRPr>
            </a:lvl5pPr>
            <a:lvl6pPr lvl="5" algn="r">
              <a:buNone/>
              <a:defRPr sz="600">
                <a:solidFill>
                  <a:schemeClr val="dk1"/>
                </a:solidFill>
                <a:latin typeface="Helvetica Neue Light"/>
                <a:ea typeface="Helvetica Neue Light"/>
                <a:cs typeface="Helvetica Neue Light"/>
                <a:sym typeface="Helvetica Neue Light"/>
              </a:defRPr>
            </a:lvl6pPr>
            <a:lvl7pPr lvl="6" algn="r">
              <a:buNone/>
              <a:defRPr sz="600">
                <a:solidFill>
                  <a:schemeClr val="dk1"/>
                </a:solidFill>
                <a:latin typeface="Helvetica Neue Light"/>
                <a:ea typeface="Helvetica Neue Light"/>
                <a:cs typeface="Helvetica Neue Light"/>
                <a:sym typeface="Helvetica Neue Light"/>
              </a:defRPr>
            </a:lvl7pPr>
            <a:lvl8pPr lvl="7" algn="r">
              <a:buNone/>
              <a:defRPr sz="600">
                <a:solidFill>
                  <a:schemeClr val="dk1"/>
                </a:solidFill>
                <a:latin typeface="Helvetica Neue Light"/>
                <a:ea typeface="Helvetica Neue Light"/>
                <a:cs typeface="Helvetica Neue Light"/>
                <a:sym typeface="Helvetica Neue Light"/>
              </a:defRPr>
            </a:lvl8pPr>
            <a:lvl9pPr lvl="8" algn="r">
              <a:buNone/>
              <a:defRPr sz="600">
                <a:solidFill>
                  <a:schemeClr val="dk1"/>
                </a:solidFill>
                <a:latin typeface="Helvetica Neue Light"/>
                <a:ea typeface="Helvetica Neue Light"/>
                <a:cs typeface="Helvetica Neue Light"/>
                <a:sym typeface="Helvetica Neue Light"/>
              </a:defRPr>
            </a:lvl9pPr>
          </a:lstStyle>
          <a:p>
            <a:pPr marL="0" lvl="0" indent="0" algn="r" rtl="0">
              <a:spcBef>
                <a:spcPts val="0"/>
              </a:spcBef>
              <a:spcAft>
                <a:spcPts val="0"/>
              </a:spcAft>
              <a:buNone/>
            </a:pPr>
            <a:fld id="{00000000-1234-1234-1234-123412341234}" type="slidenum">
              <a:rPr lang="en-GB"/>
              <a:t>‹#›</a:t>
            </a:fld>
            <a:endParaRPr sz="1400">
              <a:solidFill>
                <a:srgbClr val="000000"/>
              </a:solidFill>
              <a:latin typeface="Inter Light"/>
              <a:ea typeface="Inter Light"/>
              <a:cs typeface="Inter Light"/>
              <a:sym typeface="Inter Light"/>
            </a:endParaRPr>
          </a:p>
        </p:txBody>
      </p:sp>
      <p:sp>
        <p:nvSpPr>
          <p:cNvPr id="10" name="Google Shape;10;p1"/>
          <p:cNvSpPr txBox="1"/>
          <p:nvPr/>
        </p:nvSpPr>
        <p:spPr>
          <a:xfrm>
            <a:off x="3351292" y="4740597"/>
            <a:ext cx="2441400" cy="276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GB" sz="600">
                <a:solidFill>
                  <a:schemeClr val="dk1"/>
                </a:solidFill>
                <a:latin typeface="Helvetica Neue"/>
                <a:ea typeface="Helvetica Neue"/>
                <a:cs typeface="Helvetica Neue"/>
                <a:sym typeface="Helvetica Neue"/>
              </a:rPr>
              <a:t>© Marni 2026, All rights reserved</a:t>
            </a:r>
            <a:endParaRPr sz="600">
              <a:solidFill>
                <a:schemeClr val="dk2"/>
              </a:solidFill>
              <a:latin typeface="Helvetica Neue"/>
              <a:ea typeface="Helvetica Neue"/>
              <a:cs typeface="Helvetica Neue"/>
              <a:sym typeface="Helvetica Neue"/>
            </a:endParaRPr>
          </a:p>
        </p:txBody>
      </p:sp>
      <p:sp>
        <p:nvSpPr>
          <p:cNvPr id="11" name="Google Shape;11;p1"/>
          <p:cNvSpPr txBox="1"/>
          <p:nvPr/>
        </p:nvSpPr>
        <p:spPr>
          <a:xfrm>
            <a:off x="177325" y="4740597"/>
            <a:ext cx="2441400" cy="276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600">
                <a:solidFill>
                  <a:schemeClr val="dk1"/>
                </a:solidFill>
                <a:latin typeface="Helvetica Neue Light"/>
                <a:ea typeface="Helvetica Neue Light"/>
                <a:cs typeface="Helvetica Neue Light"/>
                <a:sym typeface="Helvetica Neue Light"/>
              </a:rPr>
              <a:t>August 26</a:t>
            </a:r>
            <a:endParaRPr sz="600">
              <a:solidFill>
                <a:schemeClr val="dk2"/>
              </a:solidFill>
              <a:latin typeface="Helvetica Neue Light"/>
              <a:ea typeface="Helvetica Neue Light"/>
              <a:cs typeface="Helvetica Neue Light"/>
              <a:sym typeface="Helvetica Neue Light"/>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881">
          <p15:clr>
            <a:srgbClr val="E46962"/>
          </p15:clr>
        </p15:guide>
        <p15:guide id="2" orient="horz" pos="2608">
          <p15:clr>
            <a:srgbClr val="E46962"/>
          </p15:clr>
        </p15:guide>
        <p15:guide id="3" orient="horz" pos="680">
          <p15:clr>
            <a:srgbClr val="E46962"/>
          </p15:clr>
        </p15:guide>
        <p15:guide id="4" pos="680">
          <p15:clr>
            <a:srgbClr val="E46962"/>
          </p15:clr>
        </p15:guide>
        <p15:guide id="5" pos="5080">
          <p15:clr>
            <a:srgbClr val="E46962"/>
          </p15:clr>
        </p15:guide>
      </p15:sldGuideLst>
    </p:ext>
  </p:extLst>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8"/>
          <p:cNvSpPr txBox="1">
            <a:spLocks noGrp="1"/>
          </p:cNvSpPr>
          <p:nvPr>
            <p:ph type="subTitle" idx="1"/>
          </p:nvPr>
        </p:nvSpPr>
        <p:spPr>
          <a:xfrm>
            <a:off x="2516850" y="4015575"/>
            <a:ext cx="4110300" cy="492600"/>
          </a:xfrm>
          <a:prstGeom prst="rect">
            <a:avLst/>
          </a:prstGeom>
        </p:spPr>
        <p:txBody>
          <a:bodyPr spcFirstLastPara="1" wrap="square" lIns="91425" tIns="91425" rIns="91425" bIns="91425" anchor="t" anchorCtr="0">
            <a:spAutoFit/>
          </a:bodyPr>
          <a:lstStyle/>
          <a:p>
            <a:pPr marL="0" lvl="0" indent="0" algn="ctr" rtl="0">
              <a:spcBef>
                <a:spcPts val="0"/>
              </a:spcBef>
              <a:spcAft>
                <a:spcPts val="0"/>
              </a:spcAft>
              <a:buNone/>
            </a:pPr>
            <a:r>
              <a:rPr lang="en-GB"/>
              <a:t>2026年 上期</a:t>
            </a:r>
            <a:endParaRPr/>
          </a:p>
          <a:p>
            <a:pPr marL="0" lvl="0" indent="0" algn="ctr" rtl="0">
              <a:spcBef>
                <a:spcPts val="0"/>
              </a:spcBef>
              <a:spcAft>
                <a:spcPts val="0"/>
              </a:spcAft>
              <a:buNone/>
            </a:pPr>
            <a:r>
              <a:rPr lang="en-GB"/>
              <a:t>売上レビュー</a:t>
            </a:r>
            <a:endParaRPr/>
          </a:p>
        </p:txBody>
      </p:sp>
      <p:sp>
        <p:nvSpPr>
          <p:cNvPr id="134" name="Google Shape;134;p18"/>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9" name="Google Shape;139;p19"/>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2</a:t>
            </a:fld>
            <a:endParaRPr>
              <a:latin typeface="Inter Light"/>
              <a:ea typeface="Inter Light"/>
              <a:cs typeface="Inter Light"/>
              <a:sym typeface="Inter Light"/>
            </a:endParaRPr>
          </a:p>
        </p:txBody>
      </p:sp>
      <p:sp>
        <p:nvSpPr>
          <p:cNvPr id="140" name="Google Shape;140;p19"/>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Table of Content</a:t>
            </a:r>
            <a:endParaRPr/>
          </a:p>
        </p:txBody>
      </p:sp>
      <p:sp>
        <p:nvSpPr>
          <p:cNvPr id="141" name="Google Shape;141;p19"/>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latin typeface="Helvetica Neue"/>
                <a:ea typeface="Helvetica Neue"/>
                <a:cs typeface="Helvetica Neue"/>
                <a:sym typeface="Helvetica Neue"/>
              </a:rPr>
              <a:t>0.0</a:t>
            </a:r>
            <a:endParaRPr sz="2200">
              <a:solidFill>
                <a:srgbClr val="000000"/>
              </a:solidFill>
              <a:latin typeface="Helvetica Neue"/>
              <a:ea typeface="Helvetica Neue"/>
              <a:cs typeface="Helvetica Neue"/>
              <a:sym typeface="Helvetica Neue"/>
            </a:endParaRPr>
          </a:p>
        </p:txBody>
      </p:sp>
      <p:sp>
        <p:nvSpPr>
          <p:cNvPr id="142" name="Google Shape;142;p19"/>
          <p:cNvSpPr txBox="1">
            <a:spLocks noGrp="1"/>
          </p:cNvSpPr>
          <p:nvPr>
            <p:ph type="subTitle" idx="1"/>
          </p:nvPr>
        </p:nvSpPr>
        <p:spPr>
          <a:xfrm>
            <a:off x="1080000" y="1080000"/>
            <a:ext cx="559500" cy="3090900"/>
          </a:xfrm>
          <a:prstGeom prst="rect">
            <a:avLst/>
          </a:prstGeom>
        </p:spPr>
        <p:txBody>
          <a:bodyPr spcFirstLastPara="1" wrap="square" lIns="91425" tIns="91425" rIns="91425" bIns="91425" anchor="t" anchorCtr="0">
            <a:spAutoFit/>
          </a:bodyPr>
          <a:lstStyle/>
          <a:p>
            <a:pPr marL="0" lvl="0" indent="0" algn="l" rtl="0">
              <a:lnSpc>
                <a:spcPct val="135000"/>
              </a:lnSpc>
              <a:spcBef>
                <a:spcPts val="0"/>
              </a:spcBef>
              <a:spcAft>
                <a:spcPts val="0"/>
              </a:spcAft>
              <a:buNone/>
            </a:pPr>
            <a:r>
              <a:rPr lang="en-GB" sz="1600"/>
              <a:t>1.0</a:t>
            </a:r>
            <a:endParaRPr sz="1600"/>
          </a:p>
          <a:p>
            <a:pPr marL="0" lvl="0" indent="0" algn="l" rtl="0">
              <a:lnSpc>
                <a:spcPct val="135000"/>
              </a:lnSpc>
              <a:spcBef>
                <a:spcPts val="0"/>
              </a:spcBef>
              <a:spcAft>
                <a:spcPts val="0"/>
              </a:spcAft>
              <a:buNone/>
            </a:pPr>
            <a:r>
              <a:rPr lang="en-GB" sz="1600"/>
              <a:t>2.0</a:t>
            </a:r>
            <a:endParaRPr sz="1600"/>
          </a:p>
          <a:p>
            <a:pPr marL="0" lvl="0" indent="0" algn="l" rtl="0">
              <a:lnSpc>
                <a:spcPct val="135000"/>
              </a:lnSpc>
              <a:spcBef>
                <a:spcPts val="0"/>
              </a:spcBef>
              <a:spcAft>
                <a:spcPts val="0"/>
              </a:spcAft>
              <a:buNone/>
            </a:pPr>
            <a:r>
              <a:rPr lang="en-GB" sz="1600"/>
              <a:t>3.0</a:t>
            </a:r>
            <a:endParaRPr sz="1600"/>
          </a:p>
          <a:p>
            <a:pPr marL="0" lvl="0" indent="0" algn="l" rtl="0">
              <a:lnSpc>
                <a:spcPct val="135000"/>
              </a:lnSpc>
              <a:spcBef>
                <a:spcPts val="0"/>
              </a:spcBef>
              <a:spcAft>
                <a:spcPts val="0"/>
              </a:spcAft>
              <a:buNone/>
            </a:pPr>
            <a:r>
              <a:rPr lang="en-GB" sz="1600"/>
              <a:t>4.0</a:t>
            </a:r>
            <a:endParaRPr sz="1600"/>
          </a:p>
          <a:p>
            <a:pPr marL="0" lvl="0" indent="0" algn="l" rtl="0">
              <a:lnSpc>
                <a:spcPct val="135000"/>
              </a:lnSpc>
              <a:spcBef>
                <a:spcPts val="0"/>
              </a:spcBef>
              <a:spcAft>
                <a:spcPts val="0"/>
              </a:spcAft>
              <a:buNone/>
            </a:pPr>
            <a:r>
              <a:rPr lang="en-GB" sz="1600"/>
              <a:t>5.0</a:t>
            </a:r>
            <a:endParaRPr sz="1600"/>
          </a:p>
        </p:txBody>
      </p:sp>
      <p:sp>
        <p:nvSpPr>
          <p:cNvPr id="143" name="Google Shape;143;p19"/>
          <p:cNvSpPr txBox="1">
            <a:spLocks noGrp="1"/>
          </p:cNvSpPr>
          <p:nvPr>
            <p:ph type="subTitle" idx="1"/>
          </p:nvPr>
        </p:nvSpPr>
        <p:spPr>
          <a:xfrm>
            <a:off x="1995500" y="1080000"/>
            <a:ext cx="5161800" cy="3090900"/>
          </a:xfrm>
          <a:prstGeom prst="rect">
            <a:avLst/>
          </a:prstGeom>
        </p:spPr>
        <p:txBody>
          <a:bodyPr spcFirstLastPara="1" wrap="square" lIns="91425" tIns="91425" rIns="91425" bIns="91425" anchor="t" anchorCtr="0">
            <a:spAutoFit/>
          </a:bodyPr>
          <a:lstStyle/>
          <a:p>
            <a:pPr marL="0" lvl="0" indent="0" algn="l" rtl="0">
              <a:lnSpc>
                <a:spcPct val="135000"/>
              </a:lnSpc>
              <a:spcBef>
                <a:spcPts val="0"/>
              </a:spcBef>
              <a:spcAft>
                <a:spcPts val="0"/>
              </a:spcAft>
              <a:buNone/>
            </a:pPr>
            <a:r>
              <a:rPr lang="en-GB" sz="1600" b="0"/>
              <a:t>サマリー — 上期の着地と結論</a:t>
            </a:r>
            <a:endParaRPr sz="1600" b="0"/>
          </a:p>
          <a:p>
            <a:pPr marL="0" lvl="0" indent="0" algn="l" rtl="0">
              <a:lnSpc>
                <a:spcPct val="135000"/>
              </a:lnSpc>
              <a:spcBef>
                <a:spcPts val="0"/>
              </a:spcBef>
              <a:spcAft>
                <a:spcPts val="0"/>
              </a:spcAft>
              <a:buNone/>
            </a:pPr>
            <a:r>
              <a:rPr lang="en-GB" sz="1600" b="0"/>
              <a:t>売上の構造 — 何が売上を動かしたか</a:t>
            </a:r>
            <a:endParaRPr sz="1600" b="0"/>
          </a:p>
          <a:p>
            <a:pPr marL="0" lvl="0" indent="0" algn="l" rtl="0">
              <a:lnSpc>
                <a:spcPct val="135000"/>
              </a:lnSpc>
              <a:spcBef>
                <a:spcPts val="0"/>
              </a:spcBef>
              <a:spcAft>
                <a:spcPts val="0"/>
              </a:spcAft>
              <a:buNone/>
            </a:pPr>
            <a:r>
              <a:rPr lang="en-GB" sz="1600" b="0"/>
              <a:t>店舗ポートフォリオ</a:t>
            </a:r>
            <a:endParaRPr sz="1600" b="0"/>
          </a:p>
          <a:p>
            <a:pPr marL="0" lvl="0" indent="0" algn="l" rtl="0">
              <a:lnSpc>
                <a:spcPct val="135000"/>
              </a:lnSpc>
              <a:spcBef>
                <a:spcPts val="0"/>
              </a:spcBef>
              <a:spcAft>
                <a:spcPts val="0"/>
              </a:spcAft>
              <a:buNone/>
            </a:pPr>
            <a:r>
              <a:rPr lang="en-GB" sz="1600" b="0"/>
              <a:t>顧客と商品</a:t>
            </a:r>
            <a:endParaRPr sz="1600" b="0"/>
          </a:p>
          <a:p>
            <a:pPr marL="0" lvl="0" indent="0" algn="l" rtl="0">
              <a:lnSpc>
                <a:spcPct val="135000"/>
              </a:lnSpc>
              <a:spcBef>
                <a:spcPts val="0"/>
              </a:spcBef>
              <a:spcAft>
                <a:spcPts val="0"/>
              </a:spcAft>
              <a:buNone/>
            </a:pPr>
            <a:r>
              <a:rPr lang="en-GB" sz="1600" b="0"/>
              <a:t>経営として決めるべきこと</a:t>
            </a:r>
            <a:endParaRPr sz="1600" b="0"/>
          </a:p>
        </p:txBody>
      </p:sp>
      <p:sp>
        <p:nvSpPr>
          <p:cNvPr id="144" name="Google Shape;144;p19"/>
          <p:cNvSpPr txBox="1">
            <a:spLocks noGrp="1"/>
          </p:cNvSpPr>
          <p:nvPr>
            <p:ph type="subTitle" idx="1"/>
          </p:nvPr>
        </p:nvSpPr>
        <p:spPr>
          <a:xfrm>
            <a:off x="7504500" y="1080000"/>
            <a:ext cx="559500" cy="3090900"/>
          </a:xfrm>
          <a:prstGeom prst="rect">
            <a:avLst/>
          </a:prstGeom>
        </p:spPr>
        <p:txBody>
          <a:bodyPr spcFirstLastPara="1" wrap="square" lIns="91425" tIns="91425" rIns="91425" bIns="91425" anchor="t" anchorCtr="0">
            <a:spAutoFit/>
          </a:bodyPr>
          <a:lstStyle/>
          <a:p>
            <a:pPr marL="0" lvl="0" indent="0" algn="r" rtl="0">
              <a:lnSpc>
                <a:spcPct val="135000"/>
              </a:lnSpc>
              <a:spcBef>
                <a:spcPts val="0"/>
              </a:spcBef>
              <a:spcAft>
                <a:spcPts val="0"/>
              </a:spcAft>
              <a:buNone/>
            </a:pPr>
            <a:r>
              <a:rPr lang="en-GB" sz="1600" b="0"/>
              <a:t>03</a:t>
            </a:r>
            <a:endParaRPr sz="1600" b="0"/>
          </a:p>
          <a:p>
            <a:pPr marL="0" lvl="0" indent="0" algn="r" rtl="0">
              <a:lnSpc>
                <a:spcPct val="135000"/>
              </a:lnSpc>
              <a:spcBef>
                <a:spcPts val="0"/>
              </a:spcBef>
              <a:spcAft>
                <a:spcPts val="0"/>
              </a:spcAft>
              <a:buNone/>
            </a:pPr>
            <a:r>
              <a:rPr lang="en-GB" sz="1600" b="0"/>
              <a:t>07</a:t>
            </a:r>
            <a:endParaRPr sz="1600" b="0"/>
          </a:p>
          <a:p>
            <a:pPr marL="0" lvl="0" indent="0" algn="r" rtl="0">
              <a:lnSpc>
                <a:spcPct val="135000"/>
              </a:lnSpc>
              <a:spcBef>
                <a:spcPts val="0"/>
              </a:spcBef>
              <a:spcAft>
                <a:spcPts val="0"/>
              </a:spcAft>
              <a:buNone/>
            </a:pPr>
            <a:r>
              <a:rPr lang="en-GB" sz="1600" b="0"/>
              <a:t>12</a:t>
            </a:r>
            <a:endParaRPr sz="1600" b="0"/>
          </a:p>
          <a:p>
            <a:pPr marL="0" lvl="0" indent="0" algn="r" rtl="0">
              <a:lnSpc>
                <a:spcPct val="135000"/>
              </a:lnSpc>
              <a:spcBef>
                <a:spcPts val="0"/>
              </a:spcBef>
              <a:spcAft>
                <a:spcPts val="0"/>
              </a:spcAft>
              <a:buNone/>
            </a:pPr>
            <a:r>
              <a:rPr lang="en-GB" sz="1600" b="0"/>
              <a:t>16</a:t>
            </a:r>
            <a:endParaRPr sz="1600" b="0"/>
          </a:p>
          <a:p>
            <a:pPr marL="0" lvl="0" indent="0" algn="r" rtl="0">
              <a:lnSpc>
                <a:spcPct val="135000"/>
              </a:lnSpc>
              <a:spcBef>
                <a:spcPts val="0"/>
              </a:spcBef>
              <a:spcAft>
                <a:spcPts val="0"/>
              </a:spcAft>
              <a:buNone/>
            </a:pPr>
            <a:r>
              <a:rPr lang="en-GB" sz="1600" b="0"/>
              <a:t>23</a:t>
            </a:r>
            <a:endParaRPr sz="1600" b="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9" name="Google Shape;149;p20"/>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サマリー — 上期の着地と結論</a:t>
            </a:r>
            <a:endParaRPr/>
          </a:p>
        </p:txBody>
      </p:sp>
      <p:sp>
        <p:nvSpPr>
          <p:cNvPr id="150" name="Google Shape;150;p20"/>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3</a:t>
            </a:fld>
            <a:endParaRPr>
              <a:latin typeface="Inter Light"/>
              <a:ea typeface="Inter Light"/>
              <a:cs typeface="Inter Light"/>
              <a:sym typeface="Inter Light"/>
            </a:endParaRPr>
          </a:p>
        </p:txBody>
      </p:sp>
      <p:sp>
        <p:nvSpPr>
          <p:cNvPr id="151" name="Google Shape;151;p20"/>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latin typeface="Helvetica Neue"/>
                <a:ea typeface="Helvetica Neue"/>
                <a:cs typeface="Helvetica Neue"/>
                <a:sym typeface="Helvetica Neue"/>
              </a:rPr>
              <a:t>1.0</a:t>
            </a:r>
            <a:endParaRPr sz="2200">
              <a:solidFill>
                <a:srgbClr val="000000"/>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上期売上は前年並み。ただし客数は二桁減</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1.1</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54864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コレクション26ドア、2026年1〜6月累計、対前年比較（予算データは非搭載）</a:t>
            </a:r>
          </a:p>
        </p:txBody>
      </p:sp>
      <p:sp>
        <p:nvSpPr>
          <p:cNvPr id="170" name="Rectangle 169"/>
          <p:cNvSpPr/>
          <p:nvPr/>
        </p:nvSpPr>
        <p:spPr>
          <a:xfrm>
            <a:off x="1078992" y="1792224"/>
            <a:ext cx="1629918" cy="1737360"/>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43584" y="1956816"/>
            <a:ext cx="1300734" cy="594360"/>
          </a:xfrm>
          <a:prstGeom prst="rect">
            <a:avLst/>
          </a:prstGeom>
          <a:noFill/>
        </p:spPr>
        <p:txBody>
          <a:bodyPr wrap="none" anchor="t" lIns="0" rIns="0" tIns="0" bIns="0">
            <a:spAutoFit/>
          </a:bodyPr>
          <a:lstStyle/>
          <a:p>
            <a:pPr algn="l">
              <a:lnSpc>
                <a:spcPct val="120000"/>
              </a:lnSpc>
            </a:pPr>
            <a:r>
              <a:rPr sz="2400" b="1">
                <a:solidFill>
                  <a:srgbClr val="FFFFFF"/>
                </a:solidFill>
                <a:latin typeface="Helvetica Neue"/>
              </a:rPr>
              <a:t>+0.3%</a:t>
            </a:r>
          </a:p>
        </p:txBody>
      </p:sp>
      <p:sp>
        <p:nvSpPr>
          <p:cNvPr id="172" name="TextBox 171"/>
          <p:cNvSpPr txBox="1"/>
          <p:nvPr/>
        </p:nvSpPr>
        <p:spPr>
          <a:xfrm>
            <a:off x="1243584" y="2596896"/>
            <a:ext cx="1300734" cy="292608"/>
          </a:xfrm>
          <a:prstGeom prst="rect">
            <a:avLst/>
          </a:prstGeom>
          <a:noFill/>
        </p:spPr>
        <p:txBody>
          <a:bodyPr wrap="square" anchor="t" lIns="0" rIns="0" tIns="0" bIns="0">
            <a:spAutoFit/>
          </a:bodyPr>
          <a:lstStyle/>
          <a:p>
            <a:pPr algn="l">
              <a:lnSpc>
                <a:spcPct val="120000"/>
              </a:lnSpc>
            </a:pPr>
            <a:r>
              <a:rPr sz="1000" b="1">
                <a:solidFill>
                  <a:srgbClr val="FFFFFF"/>
                </a:solidFill>
                <a:latin typeface="Helvetica Neue"/>
              </a:rPr>
              <a:t>Net売上</a:t>
            </a:r>
          </a:p>
        </p:txBody>
      </p:sp>
      <p:sp>
        <p:nvSpPr>
          <p:cNvPr id="173" name="TextBox 172"/>
          <p:cNvSpPr txBox="1"/>
          <p:nvPr/>
        </p:nvSpPr>
        <p:spPr>
          <a:xfrm>
            <a:off x="1243584" y="2916936"/>
            <a:ext cx="1300734" cy="521208"/>
          </a:xfrm>
          <a:prstGeom prst="rect">
            <a:avLst/>
          </a:prstGeom>
          <a:noFill/>
        </p:spPr>
        <p:txBody>
          <a:bodyPr wrap="square" anchor="t" lIns="0" rIns="0" tIns="0" bIns="0">
            <a:spAutoFit/>
          </a:bodyPr>
          <a:lstStyle/>
          <a:p>
            <a:pPr algn="l">
              <a:lnSpc>
                <a:spcPct val="120000"/>
              </a:lnSpc>
            </a:pPr>
            <a:r>
              <a:rPr sz="850" b="0">
                <a:solidFill>
                  <a:srgbClr val="FFFFFF"/>
                </a:solidFill>
                <a:latin typeface="Helvetica Neue"/>
              </a:rPr>
              <a:t>2,223百万円（前年 2,216百万円）</a:t>
            </a:r>
          </a:p>
        </p:txBody>
      </p:sp>
      <p:sp>
        <p:nvSpPr>
          <p:cNvPr id="174" name="Rectangle 173"/>
          <p:cNvSpPr/>
          <p:nvPr/>
        </p:nvSpPr>
        <p:spPr>
          <a:xfrm>
            <a:off x="2864358" y="1792224"/>
            <a:ext cx="1629918" cy="17373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3028950" y="1956816"/>
            <a:ext cx="1300734" cy="594360"/>
          </a:xfrm>
          <a:prstGeom prst="rect">
            <a:avLst/>
          </a:prstGeom>
          <a:noFill/>
        </p:spPr>
        <p:txBody>
          <a:bodyPr wrap="none" anchor="t" lIns="0" rIns="0" tIns="0" bIns="0">
            <a:spAutoFit/>
          </a:bodyPr>
          <a:lstStyle/>
          <a:p>
            <a:pPr algn="l">
              <a:lnSpc>
                <a:spcPct val="120000"/>
              </a:lnSpc>
            </a:pPr>
            <a:r>
              <a:rPr sz="2200" b="1">
                <a:solidFill>
                  <a:srgbClr val="FFFFFF"/>
                </a:solidFill>
                <a:latin typeface="Helvetica Neue"/>
              </a:rPr>
              <a:t>-10.8%</a:t>
            </a:r>
          </a:p>
        </p:txBody>
      </p:sp>
      <p:sp>
        <p:nvSpPr>
          <p:cNvPr id="176" name="TextBox 175"/>
          <p:cNvSpPr txBox="1"/>
          <p:nvPr/>
        </p:nvSpPr>
        <p:spPr>
          <a:xfrm>
            <a:off x="3028950" y="2596896"/>
            <a:ext cx="1300734" cy="292608"/>
          </a:xfrm>
          <a:prstGeom prst="rect">
            <a:avLst/>
          </a:prstGeom>
          <a:noFill/>
        </p:spPr>
        <p:txBody>
          <a:bodyPr wrap="square" anchor="t" lIns="0" rIns="0" tIns="0" bIns="0">
            <a:spAutoFit/>
          </a:bodyPr>
          <a:lstStyle/>
          <a:p>
            <a:pPr algn="l">
              <a:lnSpc>
                <a:spcPct val="120000"/>
              </a:lnSpc>
            </a:pPr>
            <a:r>
              <a:rPr sz="1000" b="1">
                <a:solidFill>
                  <a:srgbClr val="FFFFFF"/>
                </a:solidFill>
                <a:latin typeface="Helvetica Neue"/>
              </a:rPr>
              <a:t>客数（TR）</a:t>
            </a:r>
          </a:p>
        </p:txBody>
      </p:sp>
      <p:sp>
        <p:nvSpPr>
          <p:cNvPr id="177" name="TextBox 176"/>
          <p:cNvSpPr txBox="1"/>
          <p:nvPr/>
        </p:nvSpPr>
        <p:spPr>
          <a:xfrm>
            <a:off x="3028950" y="2916936"/>
            <a:ext cx="1300734" cy="521208"/>
          </a:xfrm>
          <a:prstGeom prst="rect">
            <a:avLst/>
          </a:prstGeom>
          <a:noFill/>
        </p:spPr>
        <p:txBody>
          <a:bodyPr wrap="square" anchor="t" lIns="0" rIns="0" tIns="0" bIns="0">
            <a:spAutoFit/>
          </a:bodyPr>
          <a:lstStyle/>
          <a:p>
            <a:pPr algn="l">
              <a:lnSpc>
                <a:spcPct val="120000"/>
              </a:lnSpc>
            </a:pPr>
            <a:r>
              <a:rPr sz="850" b="0">
                <a:solidFill>
                  <a:srgbClr val="FFFFFF"/>
                </a:solidFill>
                <a:latin typeface="Helvetica Neue"/>
              </a:rPr>
              <a:t>15,609件（前年 17,496件）</a:t>
            </a:r>
          </a:p>
        </p:txBody>
      </p:sp>
      <p:sp>
        <p:nvSpPr>
          <p:cNvPr id="178" name="Rectangle 177"/>
          <p:cNvSpPr/>
          <p:nvPr/>
        </p:nvSpPr>
        <p:spPr>
          <a:xfrm>
            <a:off x="4649724" y="1792224"/>
            <a:ext cx="1629918" cy="1737360"/>
          </a:xfrm>
          <a:prstGeom prst="rect">
            <a:avLst/>
          </a:prstGeom>
          <a:solidFill>
            <a:srgbClr val="9D5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814316" y="1956816"/>
            <a:ext cx="1300734" cy="594360"/>
          </a:xfrm>
          <a:prstGeom prst="rect">
            <a:avLst/>
          </a:prstGeom>
          <a:noFill/>
        </p:spPr>
        <p:txBody>
          <a:bodyPr wrap="none" anchor="t" lIns="0" rIns="0" tIns="0" bIns="0">
            <a:spAutoFit/>
          </a:bodyPr>
          <a:lstStyle/>
          <a:p>
            <a:pPr algn="l">
              <a:lnSpc>
                <a:spcPct val="120000"/>
              </a:lnSpc>
            </a:pPr>
            <a:r>
              <a:rPr sz="2200" b="1">
                <a:solidFill>
                  <a:srgbClr val="FFFFFF"/>
                </a:solidFill>
                <a:latin typeface="Helvetica Neue"/>
              </a:rPr>
              <a:t>+12.4%</a:t>
            </a:r>
          </a:p>
        </p:txBody>
      </p:sp>
      <p:sp>
        <p:nvSpPr>
          <p:cNvPr id="180" name="TextBox 179"/>
          <p:cNvSpPr txBox="1"/>
          <p:nvPr/>
        </p:nvSpPr>
        <p:spPr>
          <a:xfrm>
            <a:off x="4814316" y="2596896"/>
            <a:ext cx="1300734" cy="292608"/>
          </a:xfrm>
          <a:prstGeom prst="rect">
            <a:avLst/>
          </a:prstGeom>
          <a:noFill/>
        </p:spPr>
        <p:txBody>
          <a:bodyPr wrap="square" anchor="t" lIns="0" rIns="0" tIns="0" bIns="0">
            <a:spAutoFit/>
          </a:bodyPr>
          <a:lstStyle/>
          <a:p>
            <a:pPr algn="l">
              <a:lnSpc>
                <a:spcPct val="120000"/>
              </a:lnSpc>
            </a:pPr>
            <a:r>
              <a:rPr sz="1000" b="1">
                <a:solidFill>
                  <a:srgbClr val="FFFFFF"/>
                </a:solidFill>
                <a:latin typeface="Helvetica Neue"/>
              </a:rPr>
              <a:t>客単価（ATV）</a:t>
            </a:r>
          </a:p>
        </p:txBody>
      </p:sp>
      <p:sp>
        <p:nvSpPr>
          <p:cNvPr id="181" name="TextBox 180"/>
          <p:cNvSpPr txBox="1"/>
          <p:nvPr/>
        </p:nvSpPr>
        <p:spPr>
          <a:xfrm>
            <a:off x="4814316" y="2916936"/>
            <a:ext cx="1300734" cy="521208"/>
          </a:xfrm>
          <a:prstGeom prst="rect">
            <a:avLst/>
          </a:prstGeom>
          <a:noFill/>
        </p:spPr>
        <p:txBody>
          <a:bodyPr wrap="square" anchor="t" lIns="0" rIns="0" tIns="0" bIns="0">
            <a:spAutoFit/>
          </a:bodyPr>
          <a:lstStyle/>
          <a:p>
            <a:pPr algn="l">
              <a:lnSpc>
                <a:spcPct val="120000"/>
              </a:lnSpc>
            </a:pPr>
            <a:r>
              <a:rPr sz="850" b="0">
                <a:solidFill>
                  <a:srgbClr val="FFFFFF"/>
                </a:solidFill>
                <a:latin typeface="Helvetica Neue"/>
              </a:rPr>
              <a:t>142,415円（前年 126,654円）</a:t>
            </a:r>
          </a:p>
        </p:txBody>
      </p:sp>
      <p:sp>
        <p:nvSpPr>
          <p:cNvPr id="182" name="Rectangle 181"/>
          <p:cNvSpPr/>
          <p:nvPr/>
        </p:nvSpPr>
        <p:spPr>
          <a:xfrm>
            <a:off x="6435090" y="1792224"/>
            <a:ext cx="1629918" cy="1737360"/>
          </a:xfrm>
          <a:prstGeom prst="rect">
            <a:avLst/>
          </a:prstGeom>
          <a:solidFill>
            <a:srgbClr val="4020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6599681" y="1956816"/>
            <a:ext cx="1300734" cy="594360"/>
          </a:xfrm>
          <a:prstGeom prst="rect">
            <a:avLst/>
          </a:prstGeom>
          <a:noFill/>
        </p:spPr>
        <p:txBody>
          <a:bodyPr wrap="none" anchor="t" lIns="0" rIns="0" tIns="0" bIns="0">
            <a:spAutoFit/>
          </a:bodyPr>
          <a:lstStyle/>
          <a:p>
            <a:pPr algn="l">
              <a:lnSpc>
                <a:spcPct val="120000"/>
              </a:lnSpc>
            </a:pPr>
            <a:r>
              <a:rPr sz="2400" b="1">
                <a:solidFill>
                  <a:srgbClr val="FFFFFF"/>
                </a:solidFill>
                <a:latin typeface="Helvetica Neue"/>
              </a:rPr>
              <a:t>-1.4%</a:t>
            </a:r>
          </a:p>
        </p:txBody>
      </p:sp>
      <p:sp>
        <p:nvSpPr>
          <p:cNvPr id="184" name="TextBox 183"/>
          <p:cNvSpPr txBox="1"/>
          <p:nvPr/>
        </p:nvSpPr>
        <p:spPr>
          <a:xfrm>
            <a:off x="6599681" y="2596896"/>
            <a:ext cx="1300734" cy="292608"/>
          </a:xfrm>
          <a:prstGeom prst="rect">
            <a:avLst/>
          </a:prstGeom>
          <a:noFill/>
        </p:spPr>
        <p:txBody>
          <a:bodyPr wrap="square" anchor="t" lIns="0" rIns="0" tIns="0" bIns="0">
            <a:spAutoFit/>
          </a:bodyPr>
          <a:lstStyle/>
          <a:p>
            <a:pPr algn="l">
              <a:lnSpc>
                <a:spcPct val="120000"/>
              </a:lnSpc>
            </a:pPr>
            <a:r>
              <a:rPr sz="1000" b="1">
                <a:solidFill>
                  <a:srgbClr val="FFFFFF"/>
                </a:solidFill>
                <a:latin typeface="Helvetica Neue"/>
              </a:rPr>
              <a:t>既存店売上</a:t>
            </a:r>
          </a:p>
        </p:txBody>
      </p:sp>
      <p:sp>
        <p:nvSpPr>
          <p:cNvPr id="185" name="TextBox 184"/>
          <p:cNvSpPr txBox="1"/>
          <p:nvPr/>
        </p:nvSpPr>
        <p:spPr>
          <a:xfrm>
            <a:off x="6599681" y="2916936"/>
            <a:ext cx="1300734" cy="521208"/>
          </a:xfrm>
          <a:prstGeom prst="rect">
            <a:avLst/>
          </a:prstGeom>
          <a:noFill/>
        </p:spPr>
        <p:txBody>
          <a:bodyPr wrap="square" anchor="t" lIns="0" rIns="0" tIns="0" bIns="0">
            <a:spAutoFit/>
          </a:bodyPr>
          <a:lstStyle/>
          <a:p>
            <a:pPr algn="l">
              <a:lnSpc>
                <a:spcPct val="120000"/>
              </a:lnSpc>
            </a:pPr>
            <a:r>
              <a:rPr sz="850" b="0">
                <a:solidFill>
                  <a:srgbClr val="FFFFFF"/>
                </a:solidFill>
                <a:latin typeface="Helvetica Neue"/>
              </a:rPr>
              <a:t>新店の渋谷パルコ1Fを除く25ドア</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結論 — 増収に見えるが、実態は減収である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1.2</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54864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上期の+0.3%は、新店の寄与と単価上昇で客数減を覆い隠した結果である。</a:t>
            </a:r>
          </a:p>
        </p:txBody>
      </p:sp>
      <p:sp>
        <p:nvSpPr>
          <p:cNvPr id="170" name="Rectangle 169"/>
          <p:cNvSpPr/>
          <p:nvPr/>
        </p:nvSpPr>
        <p:spPr>
          <a:xfrm>
            <a:off x="1078992" y="1837943"/>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792224"/>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1. 前年並みの着地は新店による</a:t>
            </a:r>
          </a:p>
        </p:txBody>
      </p:sp>
      <p:sp>
        <p:nvSpPr>
          <p:cNvPr id="172" name="TextBox 171"/>
          <p:cNvSpPr txBox="1"/>
          <p:nvPr/>
        </p:nvSpPr>
        <p:spPr>
          <a:xfrm>
            <a:off x="1280160" y="2066543"/>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全社+0.3%には2025年5月開業の渋谷パルコ1F（+347.9%）が含まれる。これを除く既存25ドアでは売上-1.4%、客数-12.9%。既存事業は縮小している。</a:t>
            </a:r>
          </a:p>
        </p:txBody>
      </p:sp>
      <p:sp>
        <p:nvSpPr>
          <p:cNvPr id="173" name="Rectangle 172"/>
          <p:cNvSpPr/>
          <p:nvPr/>
        </p:nvSpPr>
        <p:spPr>
          <a:xfrm>
            <a:off x="1078992" y="2621280"/>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575560"/>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2. 客数減を単価上昇で相殺した</a:t>
            </a:r>
          </a:p>
        </p:txBody>
      </p:sp>
      <p:sp>
        <p:nvSpPr>
          <p:cNvPr id="175" name="TextBox 174"/>
          <p:cNvSpPr txBox="1"/>
          <p:nvPr/>
        </p:nvSpPr>
        <p:spPr>
          <a:xfrm>
            <a:off x="1280160" y="2849880"/>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客数は前年比-1,887件。売上ベースで-239百万円の押し下げ要因。これを客単価+15,761円＝+246百万円で埋め、差し引き+7百万円で着地した。</a:t>
            </a:r>
          </a:p>
        </p:txBody>
      </p:sp>
      <p:sp>
        <p:nvSpPr>
          <p:cNvPr id="176" name="Rectangle 175"/>
          <p:cNvSpPr/>
          <p:nvPr/>
        </p:nvSpPr>
        <p:spPr>
          <a:xfrm>
            <a:off x="1078992" y="3404616"/>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280160" y="3358896"/>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3. 中身はセール依存と基盤の毀損</a:t>
            </a:r>
          </a:p>
        </p:txBody>
      </p:sp>
      <p:sp>
        <p:nvSpPr>
          <p:cNvPr id="178" name="TextBox 177"/>
          <p:cNvSpPr txBox="1"/>
          <p:nvPr/>
        </p:nvSpPr>
        <p:spPr>
          <a:xfrm>
            <a:off x="1280160" y="3633216"/>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プロパー売上は-114百万円、セール売上は+121百万円。売上の維持はセールが担った。2025年に購入した顧客の大半が上期に再購入せず、失った売上は30.5億円にのぼる。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Google Shape;200;p25"/>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8</a:t>
            </a:fld>
            <a:endParaRPr>
              <a:latin typeface="Inter Light"/>
              <a:ea typeface="Inter Light"/>
              <a:cs typeface="Inter Light"/>
              <a:sym typeface="Inter Light"/>
            </a:endParaRPr>
          </a:p>
        </p:txBody>
      </p:sp>
      <p:sp>
        <p:nvSpPr>
          <p:cNvPr id="201" name="Google Shape;201;p25"/>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8</a:t>
            </a:fld>
            <a:endParaRPr>
              <a:latin typeface="Inter Light"/>
              <a:ea typeface="Inter Light"/>
              <a:cs typeface="Inter Light"/>
              <a:sym typeface="Inter Light"/>
            </a:endParaRPr>
          </a:p>
        </p:txBody>
      </p:sp>
      <p:sp>
        <p:nvSpPr>
          <p:cNvPr id="202" name="Google Shape;202;p25"/>
          <p:cNvSpPr txBox="1">
            <a:spLocks noGrp="1"/>
          </p:cNvSpPr>
          <p:nvPr>
            <p:ph type="subTitle" idx="1"/>
          </p:nvPr>
        </p:nvSpPr>
        <p:spPr>
          <a:xfrm>
            <a:off x="1080000" y="1724600"/>
            <a:ext cx="6984000" cy="1200600"/>
          </a:xfrm>
          <a:prstGeom prst="rect">
            <a:avLst/>
          </a:prstGeom>
        </p:spPr>
        <p:txBody>
          <a:bodyPr spcFirstLastPara="1" wrap="square" lIns="91425" tIns="91425" rIns="91425" bIns="91425" anchor="t" anchorCtr="0">
            <a:spAutoFit/>
          </a:bodyPr>
          <a:lstStyle/>
          <a:p>
            <a:pPr marL="0" marR="0" lvl="0" indent="0" algn="ctr" rtl="0">
              <a:lnSpc>
                <a:spcPct val="100000"/>
              </a:lnSpc>
              <a:spcBef>
                <a:spcPts val="0"/>
              </a:spcBef>
              <a:spcAft>
                <a:spcPts val="0"/>
              </a:spcAft>
              <a:buNone/>
            </a:pPr>
            <a:r>
              <a:rPr lang="en-GB"/>
              <a:t>「客数で失った239百万円を、単価で取り返した246百万円。</a:t>
            </a:r>
            <a:endParaRPr/>
          </a:p>
          <a:p>
            <a:pPr marL="0" marR="0" lvl="0" indent="0" algn="ctr" rtl="0">
              <a:lnSpc>
                <a:spcPct val="100000"/>
              </a:lnSpc>
              <a:spcBef>
                <a:spcPts val="0"/>
              </a:spcBef>
              <a:spcAft>
                <a:spcPts val="0"/>
              </a:spcAft>
              <a:buNone/>
            </a:pPr>
            <a:r>
              <a:rPr lang="en-GB"/>
              <a:t>差し引き+7百万円が上期の着地である。」</a:t>
            </a:r>
            <a:endParaRPr/>
          </a:p>
        </p:txBody>
      </p:sp>
      <p:sp>
        <p:nvSpPr>
          <p:cNvPr id="203" name="Google Shape;203;p25"/>
          <p:cNvSpPr txBox="1">
            <a:spLocks noGrp="1"/>
          </p:cNvSpPr>
          <p:nvPr>
            <p:ph type="title"/>
          </p:nvPr>
        </p:nvSpPr>
        <p:spPr>
          <a:xfrm>
            <a:off x="1080000" y="1398800"/>
            <a:ext cx="6984000" cy="338700"/>
          </a:xfrm>
          <a:prstGeom prst="rect">
            <a:avLst/>
          </a:prstGeom>
        </p:spPr>
        <p:txBody>
          <a:bodyPr spcFirstLastPara="1" wrap="square" lIns="91425" tIns="91425" rIns="91425" bIns="91425" anchor="t" anchorCtr="0">
            <a:spAutoFit/>
          </a:bodyPr>
          <a:lstStyle/>
          <a:p>
            <a:pPr marL="0" lvl="0" indent="0" algn="ctr" rtl="0">
              <a:spcBef>
                <a:spcPts val="0"/>
              </a:spcBef>
              <a:spcAft>
                <a:spcPts val="0"/>
              </a:spcAft>
              <a:buNone/>
            </a:pPr>
            <a:r>
              <a:rPr lang="en-GB"/>
              <a:t>上期の総括</a:t>
            </a:r>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6" name="Google Shape;156;p21"/>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4</a:t>
            </a:fld>
            <a:endParaRPr>
              <a:latin typeface="Inter Light"/>
              <a:ea typeface="Inter Light"/>
              <a:cs typeface="Inter Light"/>
              <a:sym typeface="Inter Light"/>
            </a:endParaRPr>
          </a:p>
        </p:txBody>
      </p:sp>
      <p:sp>
        <p:nvSpPr>
          <p:cNvPr id="157" name="Google Shape;157;p21"/>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売上の構造 — 何が売上を動かしたか</a:t>
            </a:r>
            <a:endParaRPr/>
          </a:p>
        </p:txBody>
      </p:sp>
      <p:sp>
        <p:nvSpPr>
          <p:cNvPr id="158" name="Google Shape;158;p21"/>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4</a:t>
            </a:fld>
            <a:endParaRPr>
              <a:latin typeface="Inter Light"/>
              <a:ea typeface="Inter Light"/>
              <a:cs typeface="Inter Light"/>
              <a:sym typeface="Inter Light"/>
            </a:endParaRPr>
          </a:p>
        </p:txBody>
      </p:sp>
      <p:sp>
        <p:nvSpPr>
          <p:cNvPr id="159" name="Google Shape;159;p21"/>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solidFill>
                  <a:srgbClr val="9D5330"/>
                </a:solidFill>
                <a:latin typeface="Helvetica Neue"/>
                <a:ea typeface="Helvetica Neue"/>
                <a:cs typeface="Helvetica Neue"/>
                <a:sym typeface="Helvetica Neue"/>
              </a:rPr>
              <a:t>2.0</a:t>
            </a:r>
            <a:endParaRPr sz="2200">
              <a:solidFill>
                <a:srgbClr val="9D5330"/>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売上増減の正体は、客数減と単価増の相殺</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2.1</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Net売上＝客数（TR）×客単価（ATV）で分解した。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客数は17,496→15,609件（-10.8%）。前年の単価で換算すると-239百万円の押し下げ。</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客単価は126,654→142,415円（+12.4%）。当年の客数で換算すると+246百万円の押し上げ。</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結果として+7百万円（+0.3%）で着地した。増収ではなく、相殺の結果である。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※入店客数のデータが無いため、客数減が「来店減」か「転換率低下」かは切り分けられない。</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レビュー資料（データソース: 202501-12.xlsx / 202601-12.xlsx Export シート）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単価上昇の8割は1点単価の上昇によるもの</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2.2</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客単価の押し上げ+246百万円を、買上点数と1点単価に分けた。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1点単価（AP）は100,610→110,118円（+9.5%）で+191百万円。内訳の8割を占める。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買上点数（UPT）は1.26→1.29（+2.7%）で+47百万円にとどまる。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主因は「1人がたくさん買った」ではなく「高い商品が売れた」。数量は-8.3%と減っている。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※UPTが丸め値のため内訳合計は+239百万円で約7百万円の誤差。</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売上を維持したのはセール。プロパーは減っている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2.3</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プロパー売上は-114百万円（-6.0%）、セール売上は+121百万円（+36.3%）。</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セール構成比は15.0%→20.4%へ5.4pt上昇した。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重要なのは平均値引率が39.7%で横ばいという点である。値引きを深くしたのではなく、セール対象として売れた「量」が増えた。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定価で売る力が落ち、その穴をセールが埋めた——これが+0.3%の中身である。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プロパー月は苦戦、セール月に支えられた上期</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2.4</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セール月である1月（+8.7%）と6月（+2.1%）はいずれもプラス。</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プロパー月は4か月中3か月がマイナスで、2月-3.1%、3月-0.1%、4月-10.4%。上期で最も悪い月は4月であり、これもプロパー月である。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ただし5月はプロパー月ながら+2.6%。「セール月＝プラス／プロパー月＝マイナス」と単純に二分できるわけではない点は留意が必要である。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9" name="Google Shape;149;p20"/>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店舗ポートフォリオ</a:t>
            </a:r>
            <a:endParaRPr/>
          </a:p>
        </p:txBody>
      </p:sp>
      <p:sp>
        <p:nvSpPr>
          <p:cNvPr id="150" name="Google Shape;150;p20"/>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3</a:t>
            </a:fld>
            <a:endParaRPr>
              <a:latin typeface="Inter Light"/>
              <a:ea typeface="Inter Light"/>
              <a:cs typeface="Inter Light"/>
              <a:sym typeface="Inter Light"/>
            </a:endParaRPr>
          </a:p>
        </p:txBody>
      </p:sp>
      <p:sp>
        <p:nvSpPr>
          <p:cNvPr id="151" name="Google Shape;151;p20"/>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latin typeface="Helvetica Neue"/>
                <a:ea typeface="Helvetica Neue"/>
                <a:cs typeface="Helvetica Neue"/>
                <a:sym typeface="Helvetica Neue"/>
              </a:rPr>
              <a:t>3.0</a:t>
            </a:r>
            <a:endParaRPr sz="2200">
              <a:solidFill>
                <a:srgbClr val="000000"/>
              </a:solidFill>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上位と下位の差は70pt。二極化が進んでいる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3.1</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26ドア中、増収は11店、減収は14店（新店の渋谷パルコ1Fを除く）。</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伸びた店には共通点がある。梅田阪急ドンナは店長交代、心斎橋大丸と大阪高島屋は改装後。この3店だけが客数もプラスを維持した。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落ちた店はACC（アクセサリー）業態と、店舗環境に課題を抱える店に集中している。京都BALは-38.6%で、原資料でも存続の判断が必要と指摘されている。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レビュー資料。上位5店・下位3店を抜粋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要注意店舗 — 客数と定価売上の両方が落ちている店</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3.2</a:t>
            </a:r>
            <a:endParaRPr sz="2200" dirty="0">
              <a:solidFill>
                <a:srgbClr val="000000"/>
              </a:solidFill>
              <a:latin typeface="Helvetica Neue"/>
              <a:ea typeface="Helvetica Neue"/>
              <a:cs typeface="Helvetica Neue"/>
              <a:sym typeface="Helvetica Neue"/>
            </a:endParaRPr>
          </a:p>
        </p:txBody>
      </p:sp>
      <p:graphicFrame>
        <p:nvGraphicFramePr>
          <p:cNvPr id="169" name="Table 168"/>
          <p:cNvGraphicFramePr>
            <a:graphicFrameLocks noGrp="1"/>
          </p:cNvGraphicFramePr>
          <p:nvPr/>
        </p:nvGraphicFramePr>
        <p:xfrm>
          <a:off x="1078992" y="1078992"/>
          <a:ext cx="6986016" cy="2926080"/>
        </p:xfrm>
        <a:graphic>
          <a:graphicData uri="http://schemas.openxmlformats.org/drawingml/2006/table">
            <a:tbl>
              <a:tblPr>
                <a:tableStyleId>{5C22544A-7EE6-4342-B048-85BDC9FD1C3A}</a:tableStyleId>
              </a:tblPr>
              <a:tblGrid>
                <a:gridCol w="1397203"/>
                <a:gridCol w="1397203"/>
                <a:gridCol w="1397203"/>
                <a:gridCol w="1397203"/>
                <a:gridCol w="1397204"/>
              </a:tblGrid>
              <a:tr h="365760">
                <a:tc>
                  <a:txBody>
                    <a:bodyPr wrap="square"/>
                    <a:lstStyle/>
                    <a:p>
                      <a:r>
                        <a:rPr sz="950" b="1">
                          <a:solidFill>
                            <a:srgbClr val="FFFFFF"/>
                          </a:solidFill>
                          <a:latin typeface="Helvetica Neue"/>
                        </a:rPr>
                        <a:t>店舗</a:t>
                      </a:r>
                    </a:p>
                  </a:txBody>
                  <a:tcPr marL="73152" marR="73152" marT="27432" marB="27432" anchor="ctr">
                    <a:solidFill>
                      <a:srgbClr val="000000"/>
                    </a:solidFill>
                  </a:tcPr>
                </a:tc>
                <a:tc>
                  <a:txBody>
                    <a:bodyPr wrap="square"/>
                    <a:lstStyle/>
                    <a:p>
                      <a:r>
                        <a:rPr sz="950" b="1">
                          <a:solidFill>
                            <a:srgbClr val="FFFFFF"/>
                          </a:solidFill>
                          <a:latin typeface="Helvetica Neue"/>
                        </a:rPr>
                        <a:t>Net売上</a:t>
                      </a:r>
                    </a:p>
                  </a:txBody>
                  <a:tcPr marL="73152" marR="73152" marT="27432" marB="27432" anchor="ctr">
                    <a:solidFill>
                      <a:srgbClr val="000000"/>
                    </a:solidFill>
                  </a:tcPr>
                </a:tc>
                <a:tc>
                  <a:txBody>
                    <a:bodyPr wrap="square"/>
                    <a:lstStyle/>
                    <a:p>
                      <a:r>
                        <a:rPr sz="950" b="1">
                          <a:solidFill>
                            <a:srgbClr val="FFFFFF"/>
                          </a:solidFill>
                          <a:latin typeface="Helvetica Neue"/>
                        </a:rPr>
                        <a:t>客数（TR）</a:t>
                      </a:r>
                    </a:p>
                  </a:txBody>
                  <a:tcPr marL="73152" marR="73152" marT="27432" marB="27432" anchor="ctr">
                    <a:solidFill>
                      <a:srgbClr val="000000"/>
                    </a:solidFill>
                  </a:tcPr>
                </a:tc>
                <a:tc>
                  <a:txBody>
                    <a:bodyPr wrap="square"/>
                    <a:lstStyle/>
                    <a:p>
                      <a:r>
                        <a:rPr sz="950" b="1">
                          <a:solidFill>
                            <a:srgbClr val="FFFFFF"/>
                          </a:solidFill>
                          <a:latin typeface="Helvetica Neue"/>
                        </a:rPr>
                        <a:t>プロパー売上</a:t>
                      </a:r>
                    </a:p>
                  </a:txBody>
                  <a:tcPr marL="73152" marR="73152" marT="27432" marB="27432" anchor="ctr">
                    <a:solidFill>
                      <a:srgbClr val="000000"/>
                    </a:solidFill>
                  </a:tcPr>
                </a:tc>
                <a:tc>
                  <a:txBody>
                    <a:bodyPr wrap="square"/>
                    <a:lstStyle/>
                    <a:p>
                      <a:r>
                        <a:rPr sz="950" b="1">
                          <a:solidFill>
                            <a:srgbClr val="FFFFFF"/>
                          </a:solidFill>
                          <a:latin typeface="Helvetica Neue"/>
                        </a:rPr>
                        <a:t>主な論点</a:t>
                      </a:r>
                    </a:p>
                  </a:txBody>
                  <a:tcPr marL="73152" marR="73152" marT="27432" marB="27432" anchor="ctr">
                    <a:solidFill>
                      <a:srgbClr val="000000"/>
                    </a:solidFill>
                  </a:tcPr>
                </a:tc>
              </a:tr>
              <a:tr h="365760">
                <a:tc>
                  <a:txBody>
                    <a:bodyPr wrap="square"/>
                    <a:lstStyle/>
                    <a:p>
                      <a:r>
                        <a:rPr sz="950" b="1">
                          <a:solidFill>
                            <a:srgbClr val="000000"/>
                          </a:solidFill>
                          <a:latin typeface="Helvetica Neue"/>
                        </a:rPr>
                        <a:t>京都BAL</a:t>
                      </a:r>
                    </a:p>
                  </a:txBody>
                  <a:tcPr marL="73152" marR="73152" marT="27432" marB="27432" anchor="ctr">
                    <a:solidFill>
                      <a:srgbClr val="FFFFFF"/>
                    </a:solidFill>
                  </a:tcPr>
                </a:tc>
                <a:tc>
                  <a:txBody>
                    <a:bodyPr wrap="square"/>
                    <a:lstStyle/>
                    <a:p>
                      <a:r>
                        <a:rPr sz="950" b="0">
                          <a:solidFill>
                            <a:srgbClr val="000000"/>
                          </a:solidFill>
                          <a:latin typeface="Helvetica Neue"/>
                        </a:rPr>
                        <a:t>-38.6%</a:t>
                      </a:r>
                    </a:p>
                  </a:txBody>
                  <a:tcPr marL="73152" marR="73152" marT="27432" marB="27432" anchor="ctr">
                    <a:solidFill>
                      <a:srgbClr val="FFFFFF"/>
                    </a:solidFill>
                  </a:tcPr>
                </a:tc>
                <a:tc>
                  <a:txBody>
                    <a:bodyPr wrap="square"/>
                    <a:lstStyle/>
                    <a:p>
                      <a:r>
                        <a:rPr sz="950" b="0">
                          <a:solidFill>
                            <a:srgbClr val="000000"/>
                          </a:solidFill>
                          <a:latin typeface="Helvetica Neue"/>
                        </a:rPr>
                        <a:t>-43.4%</a:t>
                      </a:r>
                    </a:p>
                  </a:txBody>
                  <a:tcPr marL="73152" marR="73152" marT="27432" marB="27432" anchor="ctr">
                    <a:solidFill>
                      <a:srgbClr val="FFFFFF"/>
                    </a:solidFill>
                  </a:tcPr>
                </a:tc>
                <a:tc>
                  <a:txBody>
                    <a:bodyPr wrap="square"/>
                    <a:lstStyle/>
                    <a:p>
                      <a:r>
                        <a:rPr sz="950" b="0">
                          <a:solidFill>
                            <a:srgbClr val="000000"/>
                          </a:solidFill>
                          <a:latin typeface="Helvetica Neue"/>
                        </a:rPr>
                        <a:t>-43.2%</a:t>
                      </a:r>
                    </a:p>
                  </a:txBody>
                  <a:tcPr marL="73152" marR="73152" marT="27432" marB="27432" anchor="ctr">
                    <a:solidFill>
                      <a:srgbClr val="FFFFFF"/>
                    </a:solidFill>
                  </a:tcPr>
                </a:tc>
                <a:tc>
                  <a:txBody>
                    <a:bodyPr wrap="square"/>
                    <a:lstStyle/>
                    <a:p>
                      <a:r>
                        <a:rPr sz="950" b="0">
                          <a:solidFill>
                            <a:srgbClr val="000000"/>
                          </a:solidFill>
                          <a:latin typeface="Helvetica Neue"/>
                        </a:rPr>
                        <a:t>存続の判断が必要（原資料に明記）</a:t>
                      </a:r>
                    </a:p>
                  </a:txBody>
                  <a:tcPr marL="73152" marR="73152" marT="27432" marB="27432" anchor="ctr">
                    <a:solidFill>
                      <a:srgbClr val="FFFFFF"/>
                    </a:solidFill>
                  </a:tcPr>
                </a:tc>
              </a:tr>
              <a:tr h="365760">
                <a:tc>
                  <a:txBody>
                    <a:bodyPr wrap="square"/>
                    <a:lstStyle/>
                    <a:p>
                      <a:r>
                        <a:rPr sz="950" b="1">
                          <a:solidFill>
                            <a:srgbClr val="000000"/>
                          </a:solidFill>
                          <a:latin typeface="Helvetica Neue"/>
                        </a:rPr>
                        <a:t>京都伊勢丹ACC</a:t>
                      </a:r>
                    </a:p>
                  </a:txBody>
                  <a:tcPr marL="73152" marR="73152" marT="27432" marB="27432" anchor="ctr">
                    <a:solidFill>
                      <a:srgbClr val="E9E7E5"/>
                    </a:solidFill>
                  </a:tcPr>
                </a:tc>
                <a:tc>
                  <a:txBody>
                    <a:bodyPr wrap="square"/>
                    <a:lstStyle/>
                    <a:p>
                      <a:r>
                        <a:rPr sz="950" b="0">
                          <a:solidFill>
                            <a:srgbClr val="000000"/>
                          </a:solidFill>
                          <a:latin typeface="Helvetica Neue"/>
                        </a:rPr>
                        <a:t>-24.9%</a:t>
                      </a:r>
                    </a:p>
                  </a:txBody>
                  <a:tcPr marL="73152" marR="73152" marT="27432" marB="27432" anchor="ctr">
                    <a:solidFill>
                      <a:srgbClr val="E9E7E5"/>
                    </a:solidFill>
                  </a:tcPr>
                </a:tc>
                <a:tc>
                  <a:txBody>
                    <a:bodyPr wrap="square"/>
                    <a:lstStyle/>
                    <a:p>
                      <a:r>
                        <a:rPr sz="950" b="0">
                          <a:solidFill>
                            <a:srgbClr val="000000"/>
                          </a:solidFill>
                          <a:latin typeface="Helvetica Neue"/>
                        </a:rPr>
                        <a:t>-26.9%</a:t>
                      </a:r>
                    </a:p>
                  </a:txBody>
                  <a:tcPr marL="73152" marR="73152" marT="27432" marB="27432" anchor="ctr">
                    <a:solidFill>
                      <a:srgbClr val="E9E7E5"/>
                    </a:solidFill>
                  </a:tcPr>
                </a:tc>
                <a:tc>
                  <a:txBody>
                    <a:bodyPr wrap="square"/>
                    <a:lstStyle/>
                    <a:p>
                      <a:r>
                        <a:rPr sz="950" b="0">
                          <a:solidFill>
                            <a:srgbClr val="000000"/>
                          </a:solidFill>
                          <a:latin typeface="Helvetica Neue"/>
                        </a:rPr>
                        <a:t>-29.2%</a:t>
                      </a:r>
                    </a:p>
                  </a:txBody>
                  <a:tcPr marL="73152" marR="73152" marT="27432" marB="27432" anchor="ctr">
                    <a:solidFill>
                      <a:srgbClr val="E9E7E5"/>
                    </a:solidFill>
                  </a:tcPr>
                </a:tc>
                <a:tc>
                  <a:txBody>
                    <a:bodyPr wrap="square"/>
                    <a:lstStyle/>
                    <a:p>
                      <a:r>
                        <a:rPr sz="950" b="0">
                          <a:solidFill>
                            <a:srgbClr val="000000"/>
                          </a:solidFill>
                          <a:latin typeface="Helvetica Neue"/>
                        </a:rPr>
                        <a:t>ACC業態。人員6→9名でも回復せず</a:t>
                      </a:r>
                    </a:p>
                  </a:txBody>
                  <a:tcPr marL="73152" marR="73152" marT="27432" marB="27432" anchor="ctr">
                    <a:solidFill>
                      <a:srgbClr val="E9E7E5"/>
                    </a:solidFill>
                  </a:tcPr>
                </a:tc>
              </a:tr>
              <a:tr h="365760">
                <a:tc>
                  <a:txBody>
                    <a:bodyPr wrap="square"/>
                    <a:lstStyle/>
                    <a:p>
                      <a:r>
                        <a:rPr sz="950" b="1">
                          <a:solidFill>
                            <a:srgbClr val="000000"/>
                          </a:solidFill>
                          <a:latin typeface="Helvetica Neue"/>
                        </a:rPr>
                        <a:t>渋谷スクランブル</a:t>
                      </a:r>
                    </a:p>
                  </a:txBody>
                  <a:tcPr marL="73152" marR="73152" marT="27432" marB="27432" anchor="ctr">
                    <a:solidFill>
                      <a:srgbClr val="FFFFFF"/>
                    </a:solidFill>
                  </a:tcPr>
                </a:tc>
                <a:tc>
                  <a:txBody>
                    <a:bodyPr wrap="square"/>
                    <a:lstStyle/>
                    <a:p>
                      <a:r>
                        <a:rPr sz="950" b="0">
                          <a:solidFill>
                            <a:srgbClr val="000000"/>
                          </a:solidFill>
                          <a:latin typeface="Helvetica Neue"/>
                        </a:rPr>
                        <a:t>-20.8%</a:t>
                      </a:r>
                    </a:p>
                  </a:txBody>
                  <a:tcPr marL="73152" marR="73152" marT="27432" marB="27432" anchor="ctr">
                    <a:solidFill>
                      <a:srgbClr val="FFFFFF"/>
                    </a:solidFill>
                  </a:tcPr>
                </a:tc>
                <a:tc>
                  <a:txBody>
                    <a:bodyPr wrap="square"/>
                    <a:lstStyle/>
                    <a:p>
                      <a:r>
                        <a:rPr sz="950" b="0">
                          <a:solidFill>
                            <a:srgbClr val="000000"/>
                          </a:solidFill>
                          <a:latin typeface="Helvetica Neue"/>
                        </a:rPr>
                        <a:t>-28.2%</a:t>
                      </a:r>
                    </a:p>
                  </a:txBody>
                  <a:tcPr marL="73152" marR="73152" marT="27432" marB="27432" anchor="ctr">
                    <a:solidFill>
                      <a:srgbClr val="FFFFFF"/>
                    </a:solidFill>
                  </a:tcPr>
                </a:tc>
                <a:tc>
                  <a:txBody>
                    <a:bodyPr wrap="square"/>
                    <a:lstStyle/>
                    <a:p>
                      <a:r>
                        <a:rPr sz="950" b="0">
                          <a:solidFill>
                            <a:srgbClr val="000000"/>
                          </a:solidFill>
                          <a:latin typeface="Helvetica Neue"/>
                        </a:rPr>
                        <a:t>-28.7%</a:t>
                      </a:r>
                    </a:p>
                  </a:txBody>
                  <a:tcPr marL="73152" marR="73152" marT="27432" marB="27432" anchor="ctr">
                    <a:solidFill>
                      <a:srgbClr val="FFFFFF"/>
                    </a:solidFill>
                  </a:tcPr>
                </a:tc>
                <a:tc>
                  <a:txBody>
                    <a:bodyPr wrap="square"/>
                    <a:lstStyle/>
                    <a:p>
                      <a:r>
                        <a:rPr sz="950" b="0">
                          <a:solidFill>
                            <a:srgbClr val="000000"/>
                          </a:solidFill>
                          <a:latin typeface="Helvetica Neue"/>
                        </a:rPr>
                        <a:t>新規客-19.1%。集客が止まっている</a:t>
                      </a:r>
                    </a:p>
                  </a:txBody>
                  <a:tcPr marL="73152" marR="73152" marT="27432" marB="27432" anchor="ctr">
                    <a:solidFill>
                      <a:srgbClr val="FFFFFF"/>
                    </a:solidFill>
                  </a:tcPr>
                </a:tc>
              </a:tr>
              <a:tr h="365760">
                <a:tc>
                  <a:txBody>
                    <a:bodyPr wrap="square"/>
                    <a:lstStyle/>
                    <a:p>
                      <a:r>
                        <a:rPr sz="950" b="1">
                          <a:solidFill>
                            <a:srgbClr val="000000"/>
                          </a:solidFill>
                          <a:latin typeface="Helvetica Neue"/>
                        </a:rPr>
                        <a:t>銀座三越ACC</a:t>
                      </a:r>
                    </a:p>
                  </a:txBody>
                  <a:tcPr marL="73152" marR="73152" marT="27432" marB="27432" anchor="ctr">
                    <a:solidFill>
                      <a:srgbClr val="E9E7E5"/>
                    </a:solidFill>
                  </a:tcPr>
                </a:tc>
                <a:tc>
                  <a:txBody>
                    <a:bodyPr wrap="square"/>
                    <a:lstStyle/>
                    <a:p>
                      <a:r>
                        <a:rPr sz="950" b="0">
                          <a:solidFill>
                            <a:srgbClr val="000000"/>
                          </a:solidFill>
                          <a:latin typeface="Helvetica Neue"/>
                        </a:rPr>
                        <a:t>-15.1%</a:t>
                      </a:r>
                    </a:p>
                  </a:txBody>
                  <a:tcPr marL="73152" marR="73152" marT="27432" marB="27432" anchor="ctr">
                    <a:solidFill>
                      <a:srgbClr val="E9E7E5"/>
                    </a:solidFill>
                  </a:tcPr>
                </a:tc>
                <a:tc>
                  <a:txBody>
                    <a:bodyPr wrap="square"/>
                    <a:lstStyle/>
                    <a:p>
                      <a:r>
                        <a:rPr sz="950" b="0">
                          <a:solidFill>
                            <a:srgbClr val="000000"/>
                          </a:solidFill>
                          <a:latin typeface="Helvetica Neue"/>
                        </a:rPr>
                        <a:t>-17.2%</a:t>
                      </a:r>
                    </a:p>
                  </a:txBody>
                  <a:tcPr marL="73152" marR="73152" marT="27432" marB="27432" anchor="ctr">
                    <a:solidFill>
                      <a:srgbClr val="E9E7E5"/>
                    </a:solidFill>
                  </a:tcPr>
                </a:tc>
                <a:tc>
                  <a:txBody>
                    <a:bodyPr wrap="square"/>
                    <a:lstStyle/>
                    <a:p>
                      <a:r>
                        <a:rPr sz="950" b="0">
                          <a:solidFill>
                            <a:srgbClr val="000000"/>
                          </a:solidFill>
                          <a:latin typeface="Helvetica Neue"/>
                        </a:rPr>
                        <a:t>-32.3%</a:t>
                      </a:r>
                    </a:p>
                  </a:txBody>
                  <a:tcPr marL="73152" marR="73152" marT="27432" marB="27432" anchor="ctr">
                    <a:solidFill>
                      <a:srgbClr val="E9E7E5"/>
                    </a:solidFill>
                  </a:tcPr>
                </a:tc>
                <a:tc>
                  <a:txBody>
                    <a:bodyPr wrap="square"/>
                    <a:lstStyle/>
                    <a:p>
                      <a:r>
                        <a:rPr sz="950" b="0">
                          <a:solidFill>
                            <a:srgbClr val="000000"/>
                          </a:solidFill>
                          <a:latin typeface="Helvetica Neue"/>
                        </a:rPr>
                        <a:t>ACC業態。セール構成比24.9%へ悪化</a:t>
                      </a:r>
                    </a:p>
                  </a:txBody>
                  <a:tcPr marL="73152" marR="73152" marT="27432" marB="27432" anchor="ctr">
                    <a:solidFill>
                      <a:srgbClr val="E9E7E5"/>
                    </a:solidFill>
                  </a:tcPr>
                </a:tc>
              </a:tr>
              <a:tr h="365760">
                <a:tc>
                  <a:txBody>
                    <a:bodyPr wrap="square"/>
                    <a:lstStyle/>
                    <a:p>
                      <a:r>
                        <a:rPr sz="950" b="1">
                          <a:solidFill>
                            <a:srgbClr val="000000"/>
                          </a:solidFill>
                          <a:latin typeface="Helvetica Neue"/>
                        </a:rPr>
                        <a:t>新宿伊勢丹GF</a:t>
                      </a:r>
                    </a:p>
                  </a:txBody>
                  <a:tcPr marL="73152" marR="73152" marT="27432" marB="27432" anchor="ctr">
                    <a:solidFill>
                      <a:srgbClr val="FFFFFF"/>
                    </a:solidFill>
                  </a:tcPr>
                </a:tc>
                <a:tc>
                  <a:txBody>
                    <a:bodyPr wrap="square"/>
                    <a:lstStyle/>
                    <a:p>
                      <a:r>
                        <a:rPr sz="950" b="0">
                          <a:solidFill>
                            <a:srgbClr val="000000"/>
                          </a:solidFill>
                          <a:latin typeface="Helvetica Neue"/>
                        </a:rPr>
                        <a:t>-14.3%</a:t>
                      </a:r>
                    </a:p>
                  </a:txBody>
                  <a:tcPr marL="73152" marR="73152" marT="27432" marB="27432" anchor="ctr">
                    <a:solidFill>
                      <a:srgbClr val="FFFFFF"/>
                    </a:solidFill>
                  </a:tcPr>
                </a:tc>
                <a:tc>
                  <a:txBody>
                    <a:bodyPr wrap="square"/>
                    <a:lstStyle/>
                    <a:p>
                      <a:r>
                        <a:rPr sz="950" b="0">
                          <a:solidFill>
                            <a:srgbClr val="000000"/>
                          </a:solidFill>
                          <a:latin typeface="Helvetica Neue"/>
                        </a:rPr>
                        <a:t>-9.8%</a:t>
                      </a:r>
                    </a:p>
                  </a:txBody>
                  <a:tcPr marL="73152" marR="73152" marT="27432" marB="27432" anchor="ctr">
                    <a:solidFill>
                      <a:srgbClr val="FFFFFF"/>
                    </a:solidFill>
                  </a:tcPr>
                </a:tc>
                <a:tc>
                  <a:txBody>
                    <a:bodyPr wrap="square"/>
                    <a:lstStyle/>
                    <a:p>
                      <a:r>
                        <a:rPr sz="950" b="0">
                          <a:solidFill>
                            <a:srgbClr val="000000"/>
                          </a:solidFill>
                          <a:latin typeface="Helvetica Neue"/>
                        </a:rPr>
                        <a:t>-26.9%</a:t>
                      </a:r>
                    </a:p>
                  </a:txBody>
                  <a:tcPr marL="73152" marR="73152" marT="27432" marB="27432" anchor="ctr">
                    <a:solidFill>
                      <a:srgbClr val="FFFFFF"/>
                    </a:solidFill>
                  </a:tcPr>
                </a:tc>
                <a:tc>
                  <a:txBody>
                    <a:bodyPr wrap="square"/>
                    <a:lstStyle/>
                    <a:p>
                      <a:r>
                        <a:rPr sz="950" b="0">
                          <a:solidFill>
                            <a:srgbClr val="000000"/>
                          </a:solidFill>
                          <a:latin typeface="Helvetica Neue"/>
                        </a:rPr>
                        <a:t>ACC業態。客単価も-5.1%で二重減</a:t>
                      </a:r>
                    </a:p>
                  </a:txBody>
                  <a:tcPr marL="73152" marR="73152" marT="27432" marB="27432" anchor="ctr">
                    <a:solidFill>
                      <a:srgbClr val="FFFFFF"/>
                    </a:solidFill>
                  </a:tcPr>
                </a:tc>
              </a:tr>
              <a:tr h="365760">
                <a:tc>
                  <a:txBody>
                    <a:bodyPr wrap="square"/>
                    <a:lstStyle/>
                    <a:p>
                      <a:r>
                        <a:rPr sz="950" b="1">
                          <a:solidFill>
                            <a:srgbClr val="000000"/>
                          </a:solidFill>
                          <a:latin typeface="Helvetica Neue"/>
                        </a:rPr>
                        <a:t>名古屋ラシック</a:t>
                      </a:r>
                    </a:p>
                  </a:txBody>
                  <a:tcPr marL="73152" marR="73152" marT="27432" marB="27432" anchor="ctr">
                    <a:solidFill>
                      <a:srgbClr val="E9E7E5"/>
                    </a:solidFill>
                  </a:tcPr>
                </a:tc>
                <a:tc>
                  <a:txBody>
                    <a:bodyPr wrap="square"/>
                    <a:lstStyle/>
                    <a:p>
                      <a:r>
                        <a:rPr sz="950" b="0">
                          <a:solidFill>
                            <a:srgbClr val="000000"/>
                          </a:solidFill>
                          <a:latin typeface="Helvetica Neue"/>
                        </a:rPr>
                        <a:t>-10.1%</a:t>
                      </a:r>
                    </a:p>
                  </a:txBody>
                  <a:tcPr marL="73152" marR="73152" marT="27432" marB="27432" anchor="ctr">
                    <a:solidFill>
                      <a:srgbClr val="E9E7E5"/>
                    </a:solidFill>
                  </a:tcPr>
                </a:tc>
                <a:tc>
                  <a:txBody>
                    <a:bodyPr wrap="square"/>
                    <a:lstStyle/>
                    <a:p>
                      <a:r>
                        <a:rPr sz="950" b="0">
                          <a:solidFill>
                            <a:srgbClr val="000000"/>
                          </a:solidFill>
                          <a:latin typeface="Helvetica Neue"/>
                        </a:rPr>
                        <a:t>-21.4%</a:t>
                      </a:r>
                    </a:p>
                  </a:txBody>
                  <a:tcPr marL="73152" marR="73152" marT="27432" marB="27432" anchor="ctr">
                    <a:solidFill>
                      <a:srgbClr val="E9E7E5"/>
                    </a:solidFill>
                  </a:tcPr>
                </a:tc>
                <a:tc>
                  <a:txBody>
                    <a:bodyPr wrap="square"/>
                    <a:lstStyle/>
                    <a:p>
                      <a:r>
                        <a:rPr sz="950" b="0">
                          <a:solidFill>
                            <a:srgbClr val="000000"/>
                          </a:solidFill>
                          <a:latin typeface="Helvetica Neue"/>
                        </a:rPr>
                        <a:t>-13.0%</a:t>
                      </a:r>
                    </a:p>
                  </a:txBody>
                  <a:tcPr marL="73152" marR="73152" marT="27432" marB="27432" anchor="ctr">
                    <a:solidFill>
                      <a:srgbClr val="E9E7E5"/>
                    </a:solidFill>
                  </a:tcPr>
                </a:tc>
                <a:tc>
                  <a:txBody>
                    <a:bodyPr wrap="square"/>
                    <a:lstStyle/>
                    <a:p>
                      <a:r>
                        <a:rPr sz="950" b="0">
                          <a:solidFill>
                            <a:srgbClr val="000000"/>
                          </a:solidFill>
                          <a:latin typeface="Helvetica Neue"/>
                        </a:rPr>
                        <a:t>新規客-21.9%</a:t>
                      </a:r>
                    </a:p>
                  </a:txBody>
                  <a:tcPr marL="73152" marR="73152" marT="27432" marB="27432" anchor="ctr">
                    <a:solidFill>
                      <a:srgbClr val="E9E7E5"/>
                    </a:solidFill>
                  </a:tcPr>
                </a:tc>
              </a:tr>
              <a:tr h="365760">
                <a:tc>
                  <a:txBody>
                    <a:bodyPr wrap="square"/>
                    <a:lstStyle/>
                    <a:p>
                      <a:r>
                        <a:rPr sz="950" b="1">
                          <a:solidFill>
                            <a:srgbClr val="000000"/>
                          </a:solidFill>
                          <a:latin typeface="Helvetica Neue"/>
                        </a:rPr>
                        <a:t>表参道</a:t>
                      </a:r>
                    </a:p>
                  </a:txBody>
                  <a:tcPr marL="73152" marR="73152" marT="27432" marB="27432" anchor="ctr">
                    <a:solidFill>
                      <a:srgbClr val="FFFFFF"/>
                    </a:solidFill>
                  </a:tcPr>
                </a:tc>
                <a:tc>
                  <a:txBody>
                    <a:bodyPr wrap="square"/>
                    <a:lstStyle/>
                    <a:p>
                      <a:r>
                        <a:rPr sz="950" b="0">
                          <a:solidFill>
                            <a:srgbClr val="000000"/>
                          </a:solidFill>
                          <a:latin typeface="Helvetica Neue"/>
                        </a:rPr>
                        <a:t>-8.2%</a:t>
                      </a:r>
                    </a:p>
                  </a:txBody>
                  <a:tcPr marL="73152" marR="73152" marT="27432" marB="27432" anchor="ctr">
                    <a:solidFill>
                      <a:srgbClr val="FFFFFF"/>
                    </a:solidFill>
                  </a:tcPr>
                </a:tc>
                <a:tc>
                  <a:txBody>
                    <a:bodyPr wrap="square"/>
                    <a:lstStyle/>
                    <a:p>
                      <a:r>
                        <a:rPr sz="950" b="0">
                          <a:solidFill>
                            <a:srgbClr val="000000"/>
                          </a:solidFill>
                          <a:latin typeface="Helvetica Neue"/>
                        </a:rPr>
                        <a:t>-20.3%</a:t>
                      </a:r>
                    </a:p>
                  </a:txBody>
                  <a:tcPr marL="73152" marR="73152" marT="27432" marB="27432" anchor="ctr">
                    <a:solidFill>
                      <a:srgbClr val="FFFFFF"/>
                    </a:solidFill>
                  </a:tcPr>
                </a:tc>
                <a:tc>
                  <a:txBody>
                    <a:bodyPr wrap="square"/>
                    <a:lstStyle/>
                    <a:p>
                      <a:r>
                        <a:rPr sz="950" b="0">
                          <a:solidFill>
                            <a:srgbClr val="000000"/>
                          </a:solidFill>
                          <a:latin typeface="Helvetica Neue"/>
                        </a:rPr>
                        <a:t>-16.6%</a:t>
                      </a:r>
                    </a:p>
                  </a:txBody>
                  <a:tcPr marL="73152" marR="73152" marT="27432" marB="27432" anchor="ctr">
                    <a:solidFill>
                      <a:srgbClr val="FFFFFF"/>
                    </a:solidFill>
                  </a:tcPr>
                </a:tc>
                <a:tc>
                  <a:txBody>
                    <a:bodyPr wrap="square"/>
                    <a:lstStyle/>
                    <a:p>
                      <a:r>
                        <a:rPr sz="950" b="0">
                          <a:solidFill>
                            <a:srgbClr val="000000"/>
                          </a:solidFill>
                          <a:latin typeface="Helvetica Neue"/>
                        </a:rPr>
                        <a:t>旗艦店。新規客-20.5%</a:t>
                      </a:r>
                    </a:p>
                  </a:txBody>
                  <a:tcPr marL="73152" marR="73152" marT="27432" marB="27432"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26ドアは4つの型に分かれる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3.3</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27432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客数と客単価の増減で分類すると、店舗の課題が型として見えてくる。</a:t>
            </a:r>
          </a:p>
        </p:txBody>
      </p:sp>
      <p:sp>
        <p:nvSpPr>
          <p:cNvPr id="170" name="Rectangle 169"/>
          <p:cNvSpPr/>
          <p:nvPr/>
        </p:nvSpPr>
        <p:spPr>
          <a:xfrm>
            <a:off x="1078992" y="1563624"/>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51790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客数増・単価増（3店）</a:t>
            </a:r>
          </a:p>
        </p:txBody>
      </p:sp>
      <p:sp>
        <p:nvSpPr>
          <p:cNvPr id="172" name="TextBox 171"/>
          <p:cNvSpPr txBox="1"/>
          <p:nvPr/>
        </p:nvSpPr>
        <p:spPr>
          <a:xfrm>
            <a:off x="1280160" y="1792224"/>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梅田阪急ドンナ、心斎橋大丸、大阪高島屋。店長交代と改装が効いた。横展開すべき成功事例。</a:t>
            </a:r>
          </a:p>
        </p:txBody>
      </p:sp>
      <p:sp>
        <p:nvSpPr>
          <p:cNvPr id="173" name="Rectangle 172"/>
          <p:cNvSpPr/>
          <p:nvPr/>
        </p:nvSpPr>
        <p:spPr>
          <a:xfrm>
            <a:off x="1078992" y="2875787"/>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83006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客数減・単価増（20店）</a:t>
            </a:r>
          </a:p>
        </p:txBody>
      </p:sp>
      <p:sp>
        <p:nvSpPr>
          <p:cNvPr id="175" name="TextBox 174"/>
          <p:cNvSpPr txBox="1"/>
          <p:nvPr/>
        </p:nvSpPr>
        <p:spPr>
          <a:xfrm>
            <a:off x="1280160" y="3104387"/>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大半がここ。単価で客数減を埋めている多数派。単価上昇が止まった瞬間に減収に転じるため、最も注意が必要な型。</a:t>
            </a:r>
          </a:p>
        </p:txBody>
      </p:sp>
      <p:sp>
        <p:nvSpPr>
          <p:cNvPr id="176" name="Rectangle 175"/>
          <p:cNvSpPr/>
          <p:nvPr/>
        </p:nvSpPr>
        <p:spPr>
          <a:xfrm>
            <a:off x="4754879" y="1563624"/>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956047" y="151790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客数減・単価減（2店）</a:t>
            </a:r>
          </a:p>
        </p:txBody>
      </p:sp>
      <p:sp>
        <p:nvSpPr>
          <p:cNvPr id="178" name="TextBox 177"/>
          <p:cNvSpPr txBox="1"/>
          <p:nvPr/>
        </p:nvSpPr>
        <p:spPr>
          <a:xfrm>
            <a:off x="4956047" y="1792224"/>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梅田阪急ACC、新宿伊勢丹GF。いずれもACC業態で、単価による埋め合わせが効いていない。業態自体の見直しが要る。</a:t>
            </a:r>
          </a:p>
        </p:txBody>
      </p:sp>
      <p:sp>
        <p:nvSpPr>
          <p:cNvPr id="179" name="Rectangle 178"/>
          <p:cNvSpPr/>
          <p:nvPr/>
        </p:nvSpPr>
        <p:spPr>
          <a:xfrm>
            <a:off x="4754879" y="2875787"/>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956047" y="283006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客数増・単価減（0店）</a:t>
            </a:r>
          </a:p>
        </p:txBody>
      </p:sp>
      <p:sp>
        <p:nvSpPr>
          <p:cNvPr id="181" name="TextBox 180"/>
          <p:cNvSpPr txBox="1"/>
          <p:nvPr/>
        </p:nvSpPr>
        <p:spPr>
          <a:xfrm>
            <a:off x="4956047" y="3104387"/>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該当なし。値下げで客数を取りにいった店は存在しない。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6" name="Google Shape;156;p21"/>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4</a:t>
            </a:fld>
            <a:endParaRPr>
              <a:latin typeface="Inter Light"/>
              <a:ea typeface="Inter Light"/>
              <a:cs typeface="Inter Light"/>
              <a:sym typeface="Inter Light"/>
            </a:endParaRPr>
          </a:p>
        </p:txBody>
      </p:sp>
      <p:sp>
        <p:nvSpPr>
          <p:cNvPr id="157" name="Google Shape;157;p21"/>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顧客と商品</a:t>
            </a:r>
            <a:endParaRPr/>
          </a:p>
        </p:txBody>
      </p:sp>
      <p:sp>
        <p:nvSpPr>
          <p:cNvPr id="158" name="Google Shape;158;p21"/>
          <p:cNvSpPr txBox="1">
            <a:spLocks noGrp="1"/>
          </p:cNvSpPr>
          <p:nvPr>
            <p:ph type="sldNum" idx="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4</a:t>
            </a:fld>
            <a:endParaRPr>
              <a:latin typeface="Inter Light"/>
              <a:ea typeface="Inter Light"/>
              <a:cs typeface="Inter Light"/>
              <a:sym typeface="Inter Light"/>
            </a:endParaRPr>
          </a:p>
        </p:txBody>
      </p:sp>
      <p:sp>
        <p:nvSpPr>
          <p:cNvPr id="159" name="Google Shape;159;p21"/>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solidFill>
                  <a:srgbClr val="9D5330"/>
                </a:solidFill>
                <a:latin typeface="Helvetica Neue"/>
                <a:ea typeface="Helvetica Neue"/>
                <a:cs typeface="Helvetica Neue"/>
                <a:sym typeface="Helvetica Neue"/>
              </a:rPr>
              <a:t>4.0</a:t>
            </a:r>
            <a:endParaRPr sz="2200">
              <a:solidFill>
                <a:srgbClr val="9D5330"/>
              </a:solidFill>
              <a:latin typeface="Helvetica Neue"/>
              <a:ea typeface="Helvetica Neue"/>
              <a:cs typeface="Helvetica Neue"/>
              <a:sym typeface="Helvetica Neue"/>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客数減の正体は新規客。既存客は微増している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4.1</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客数-1,887件の内訳を見ると、既存顧客は+97件と微増。減っているのは新規顧客-1,369件と非登録-615件である。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2026年の客単価で金額換算すると、新規顧客の減少は約-1.67億円、既存顧客の増加は約+0.18億円。新規の落ち込みが既存の伸びの約9倍の規模でマイナスに効いている。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既存客の育成は機能している（売上+12.3%、客単価183,850円）。止まっているのは新規客の獲得である。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レビュー資料。金額換算は客単価一定を仮定した概算</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上位客は増え、下位客は減る。顧客の二極化</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4.2</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半期購入額の階層別に見ると、30万円以上の各層はすべて二桁で顧客数を伸ばしている。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一方で10万円未満は-17.1%、10-30万円は-3.3%。裾野が痩せている。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ただし売上構成比では10-30万円層が40.5%と最大で、10万円未満が20.6%。売上の6割は「減っている層」が支えている。上位客の伸びだけでは代替できない規模である。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2025年の顧客の多くが戻らず、30.5億円を失った</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4.3</a:t>
            </a:r>
            <a:endParaRPr sz="2200" dirty="0">
              <a:solidFill>
                <a:srgbClr val="000000"/>
              </a:solidFill>
              <a:latin typeface="Helvetica Neue"/>
              <a:ea typeface="Helvetica Neue"/>
              <a:cs typeface="Helvetica Neue"/>
              <a:sym typeface="Helvetica Neue"/>
            </a:endParaRPr>
          </a:p>
        </p:txBody>
      </p:sp>
      <p:graphicFrame>
        <p:nvGraphicFramePr>
          <p:cNvPr id="169" name="Table 168"/>
          <p:cNvGraphicFramePr>
            <a:graphicFrameLocks noGrp="1"/>
          </p:cNvGraphicFramePr>
          <p:nvPr/>
        </p:nvGraphicFramePr>
        <p:xfrm>
          <a:off x="1078992" y="1078992"/>
          <a:ext cx="6986016" cy="2560320"/>
        </p:xfrm>
        <a:graphic>
          <a:graphicData uri="http://schemas.openxmlformats.org/drawingml/2006/table">
            <a:tbl>
              <a:tblPr>
                <a:tableStyleId>{5C22544A-7EE6-4342-B048-85BDC9FD1C3A}</a:tableStyleId>
              </a:tblPr>
              <a:tblGrid>
                <a:gridCol w="1397203"/>
                <a:gridCol w="1397203"/>
                <a:gridCol w="1397203"/>
                <a:gridCol w="1397203"/>
                <a:gridCol w="1397204"/>
              </a:tblGrid>
              <a:tr h="365760">
                <a:tc>
                  <a:txBody>
                    <a:bodyPr wrap="square"/>
                    <a:lstStyle/>
                    <a:p>
                      <a:r>
                        <a:rPr sz="950" b="1">
                          <a:solidFill>
                            <a:srgbClr val="FFFFFF"/>
                          </a:solidFill>
                          <a:latin typeface="Helvetica Neue"/>
                        </a:rPr>
                        <a:t>2025年の購入額</a:t>
                      </a:r>
                    </a:p>
                  </a:txBody>
                  <a:tcPr marL="73152" marR="73152" marT="27432" marB="27432" anchor="ctr">
                    <a:solidFill>
                      <a:srgbClr val="000000"/>
                    </a:solidFill>
                  </a:tcPr>
                </a:tc>
                <a:tc>
                  <a:txBody>
                    <a:bodyPr wrap="square"/>
                    <a:lstStyle/>
                    <a:p>
                      <a:r>
                        <a:rPr sz="950" b="1">
                          <a:solidFill>
                            <a:srgbClr val="FFFFFF"/>
                          </a:solidFill>
                          <a:latin typeface="Helvetica Neue"/>
                        </a:rPr>
                        <a:t>対象人数</a:t>
                      </a:r>
                    </a:p>
                  </a:txBody>
                  <a:tcPr marL="73152" marR="73152" marT="27432" marB="27432" anchor="ctr">
                    <a:solidFill>
                      <a:srgbClr val="000000"/>
                    </a:solidFill>
                  </a:tcPr>
                </a:tc>
                <a:tc>
                  <a:txBody>
                    <a:bodyPr wrap="square"/>
                    <a:lstStyle/>
                    <a:p>
                      <a:r>
                        <a:rPr sz="950" b="1">
                          <a:solidFill>
                            <a:srgbClr val="FFFFFF"/>
                          </a:solidFill>
                          <a:latin typeface="Helvetica Neue"/>
                        </a:rPr>
                        <a:t>再購入なし</a:t>
                      </a:r>
                    </a:p>
                  </a:txBody>
                  <a:tcPr marL="73152" marR="73152" marT="27432" marB="27432" anchor="ctr">
                    <a:solidFill>
                      <a:srgbClr val="000000"/>
                    </a:solidFill>
                  </a:tcPr>
                </a:tc>
                <a:tc>
                  <a:txBody>
                    <a:bodyPr wrap="square"/>
                    <a:lstStyle/>
                    <a:p>
                      <a:r>
                        <a:rPr sz="950" b="1">
                          <a:solidFill>
                            <a:srgbClr val="FFFFFF"/>
                          </a:solidFill>
                          <a:latin typeface="Helvetica Neue"/>
                        </a:rPr>
                        <a:t>Lost率</a:t>
                      </a:r>
                    </a:p>
                  </a:txBody>
                  <a:tcPr marL="73152" marR="73152" marT="27432" marB="27432" anchor="ctr">
                    <a:solidFill>
                      <a:srgbClr val="000000"/>
                    </a:solidFill>
                  </a:tcPr>
                </a:tc>
                <a:tc>
                  <a:txBody>
                    <a:bodyPr wrap="square"/>
                    <a:lstStyle/>
                    <a:p>
                      <a:r>
                        <a:rPr sz="950" b="1">
                          <a:solidFill>
                            <a:srgbClr val="FFFFFF"/>
                          </a:solidFill>
                          <a:latin typeface="Helvetica Neue"/>
                        </a:rPr>
                        <a:t>失った売上</a:t>
                      </a:r>
                    </a:p>
                  </a:txBody>
                  <a:tcPr marL="73152" marR="73152" marT="27432" marB="27432" anchor="ctr">
                    <a:solidFill>
                      <a:srgbClr val="000000"/>
                    </a:solidFill>
                  </a:tcPr>
                </a:tc>
              </a:tr>
              <a:tr h="365760">
                <a:tc>
                  <a:txBody>
                    <a:bodyPr wrap="square"/>
                    <a:lstStyle/>
                    <a:p>
                      <a:r>
                        <a:rPr sz="950" b="1">
                          <a:solidFill>
                            <a:srgbClr val="000000"/>
                          </a:solidFill>
                          <a:latin typeface="Helvetica Neue"/>
                        </a:rPr>
                        <a:t>10万円未満</a:t>
                      </a:r>
                    </a:p>
                  </a:txBody>
                  <a:tcPr marL="73152" marR="73152" marT="27432" marB="27432" anchor="ctr">
                    <a:solidFill>
                      <a:srgbClr val="FFFFFF"/>
                    </a:solidFill>
                  </a:tcPr>
                </a:tc>
                <a:tc>
                  <a:txBody>
                    <a:bodyPr wrap="square"/>
                    <a:lstStyle/>
                    <a:p>
                      <a:r>
                        <a:rPr sz="950" b="0">
                          <a:solidFill>
                            <a:srgbClr val="000000"/>
                          </a:solidFill>
                          <a:latin typeface="Helvetica Neue"/>
                        </a:rPr>
                        <a:t>13,540人</a:t>
                      </a:r>
                    </a:p>
                  </a:txBody>
                  <a:tcPr marL="73152" marR="73152" marT="27432" marB="27432" anchor="ctr">
                    <a:solidFill>
                      <a:srgbClr val="FFFFFF"/>
                    </a:solidFill>
                  </a:tcPr>
                </a:tc>
                <a:tc>
                  <a:txBody>
                    <a:bodyPr wrap="square"/>
                    <a:lstStyle/>
                    <a:p>
                      <a:r>
                        <a:rPr sz="950" b="0">
                          <a:solidFill>
                            <a:srgbClr val="000000"/>
                          </a:solidFill>
                          <a:latin typeface="Helvetica Neue"/>
                        </a:rPr>
                        <a:t>13,187人</a:t>
                      </a:r>
                    </a:p>
                  </a:txBody>
                  <a:tcPr marL="73152" marR="73152" marT="27432" marB="27432" anchor="ctr">
                    <a:solidFill>
                      <a:srgbClr val="FFFFFF"/>
                    </a:solidFill>
                  </a:tcPr>
                </a:tc>
                <a:tc>
                  <a:txBody>
                    <a:bodyPr wrap="square"/>
                    <a:lstStyle/>
                    <a:p>
                      <a:r>
                        <a:rPr sz="950" b="0">
                          <a:solidFill>
                            <a:srgbClr val="000000"/>
                          </a:solidFill>
                          <a:latin typeface="Helvetica Neue"/>
                        </a:rPr>
                        <a:t>97%</a:t>
                      </a:r>
                    </a:p>
                  </a:txBody>
                  <a:tcPr marL="73152" marR="73152" marT="27432" marB="27432" anchor="ctr">
                    <a:solidFill>
                      <a:srgbClr val="FFFFFF"/>
                    </a:solidFill>
                  </a:tcPr>
                </a:tc>
                <a:tc>
                  <a:txBody>
                    <a:bodyPr wrap="square"/>
                    <a:lstStyle/>
                    <a:p>
                      <a:r>
                        <a:rPr sz="950" b="0">
                          <a:solidFill>
                            <a:srgbClr val="000000"/>
                          </a:solidFill>
                          <a:latin typeface="Helvetica Neue"/>
                        </a:rPr>
                        <a:t>8.99億円</a:t>
                      </a:r>
                    </a:p>
                  </a:txBody>
                  <a:tcPr marL="73152" marR="73152" marT="27432" marB="27432" anchor="ctr">
                    <a:solidFill>
                      <a:srgbClr val="FFFFFF"/>
                    </a:solidFill>
                  </a:tcPr>
                </a:tc>
              </a:tr>
              <a:tr h="365760">
                <a:tc>
                  <a:txBody>
                    <a:bodyPr wrap="square"/>
                    <a:lstStyle/>
                    <a:p>
                      <a:r>
                        <a:rPr sz="950" b="1">
                          <a:solidFill>
                            <a:srgbClr val="000000"/>
                          </a:solidFill>
                          <a:latin typeface="Helvetica Neue"/>
                        </a:rPr>
                        <a:t>10-30万円</a:t>
                      </a:r>
                    </a:p>
                  </a:txBody>
                  <a:tcPr marL="73152" marR="73152" marT="27432" marB="27432" anchor="ctr">
                    <a:solidFill>
                      <a:srgbClr val="E9E7E5"/>
                    </a:solidFill>
                  </a:tcPr>
                </a:tc>
                <a:tc>
                  <a:txBody>
                    <a:bodyPr wrap="square"/>
                    <a:lstStyle/>
                    <a:p>
                      <a:r>
                        <a:rPr sz="950" b="0">
                          <a:solidFill>
                            <a:srgbClr val="000000"/>
                          </a:solidFill>
                          <a:latin typeface="Helvetica Neue"/>
                        </a:rPr>
                        <a:t>9,660人</a:t>
                      </a:r>
                    </a:p>
                  </a:txBody>
                  <a:tcPr marL="73152" marR="73152" marT="27432" marB="27432" anchor="ctr">
                    <a:solidFill>
                      <a:srgbClr val="E9E7E5"/>
                    </a:solidFill>
                  </a:tcPr>
                </a:tc>
                <a:tc>
                  <a:txBody>
                    <a:bodyPr wrap="square"/>
                    <a:lstStyle/>
                    <a:p>
                      <a:r>
                        <a:rPr sz="950" b="0">
                          <a:solidFill>
                            <a:srgbClr val="000000"/>
                          </a:solidFill>
                          <a:latin typeface="Helvetica Neue"/>
                        </a:rPr>
                        <a:t>8,940人</a:t>
                      </a:r>
                    </a:p>
                  </a:txBody>
                  <a:tcPr marL="73152" marR="73152" marT="27432" marB="27432" anchor="ctr">
                    <a:solidFill>
                      <a:srgbClr val="E9E7E5"/>
                    </a:solidFill>
                  </a:tcPr>
                </a:tc>
                <a:tc>
                  <a:txBody>
                    <a:bodyPr wrap="square"/>
                    <a:lstStyle/>
                    <a:p>
                      <a:r>
                        <a:rPr sz="950" b="0">
                          <a:solidFill>
                            <a:srgbClr val="000000"/>
                          </a:solidFill>
                          <a:latin typeface="Helvetica Neue"/>
                        </a:rPr>
                        <a:t>93%</a:t>
                      </a:r>
                    </a:p>
                  </a:txBody>
                  <a:tcPr marL="73152" marR="73152" marT="27432" marB="27432" anchor="ctr">
                    <a:solidFill>
                      <a:srgbClr val="E9E7E5"/>
                    </a:solidFill>
                  </a:tcPr>
                </a:tc>
                <a:tc>
                  <a:txBody>
                    <a:bodyPr wrap="square"/>
                    <a:lstStyle/>
                    <a:p>
                      <a:r>
                        <a:rPr sz="950" b="0">
                          <a:solidFill>
                            <a:srgbClr val="000000"/>
                          </a:solidFill>
                          <a:latin typeface="Helvetica Neue"/>
                        </a:rPr>
                        <a:t>14.55億円</a:t>
                      </a:r>
                    </a:p>
                  </a:txBody>
                  <a:tcPr marL="73152" marR="73152" marT="27432" marB="27432" anchor="ctr">
                    <a:solidFill>
                      <a:srgbClr val="E9E7E5"/>
                    </a:solidFill>
                  </a:tcPr>
                </a:tc>
              </a:tr>
              <a:tr h="365760">
                <a:tc>
                  <a:txBody>
                    <a:bodyPr wrap="square"/>
                    <a:lstStyle/>
                    <a:p>
                      <a:r>
                        <a:rPr sz="950" b="1">
                          <a:solidFill>
                            <a:srgbClr val="000000"/>
                          </a:solidFill>
                          <a:latin typeface="Helvetica Neue"/>
                        </a:rPr>
                        <a:t>30-50万円</a:t>
                      </a:r>
                    </a:p>
                  </a:txBody>
                  <a:tcPr marL="73152" marR="73152" marT="27432" marB="27432" anchor="ctr">
                    <a:solidFill>
                      <a:srgbClr val="FFFFFF"/>
                    </a:solidFill>
                  </a:tcPr>
                </a:tc>
                <a:tc>
                  <a:txBody>
                    <a:bodyPr wrap="square"/>
                    <a:lstStyle/>
                    <a:p>
                      <a:r>
                        <a:rPr sz="950" b="0">
                          <a:solidFill>
                            <a:srgbClr val="000000"/>
                          </a:solidFill>
                          <a:latin typeface="Helvetica Neue"/>
                        </a:rPr>
                        <a:t>1,247人</a:t>
                      </a:r>
                    </a:p>
                  </a:txBody>
                  <a:tcPr marL="73152" marR="73152" marT="27432" marB="27432" anchor="ctr">
                    <a:solidFill>
                      <a:srgbClr val="FFFFFF"/>
                    </a:solidFill>
                  </a:tcPr>
                </a:tc>
                <a:tc>
                  <a:txBody>
                    <a:bodyPr wrap="square"/>
                    <a:lstStyle/>
                    <a:p>
                      <a:r>
                        <a:rPr sz="950" b="0">
                          <a:solidFill>
                            <a:srgbClr val="000000"/>
                          </a:solidFill>
                          <a:latin typeface="Helvetica Neue"/>
                        </a:rPr>
                        <a:t>942人</a:t>
                      </a:r>
                    </a:p>
                  </a:txBody>
                  <a:tcPr marL="73152" marR="73152" marT="27432" marB="27432" anchor="ctr">
                    <a:solidFill>
                      <a:srgbClr val="FFFFFF"/>
                    </a:solidFill>
                  </a:tcPr>
                </a:tc>
                <a:tc>
                  <a:txBody>
                    <a:bodyPr wrap="square"/>
                    <a:lstStyle/>
                    <a:p>
                      <a:r>
                        <a:rPr sz="950" b="0">
                          <a:solidFill>
                            <a:srgbClr val="000000"/>
                          </a:solidFill>
                          <a:latin typeface="Helvetica Neue"/>
                        </a:rPr>
                        <a:t>76%</a:t>
                      </a:r>
                    </a:p>
                  </a:txBody>
                  <a:tcPr marL="73152" marR="73152" marT="27432" marB="27432" anchor="ctr">
                    <a:solidFill>
                      <a:srgbClr val="FFFFFF"/>
                    </a:solidFill>
                  </a:tcPr>
                </a:tc>
                <a:tc>
                  <a:txBody>
                    <a:bodyPr wrap="square"/>
                    <a:lstStyle/>
                    <a:p>
                      <a:r>
                        <a:rPr sz="950" b="0">
                          <a:solidFill>
                            <a:srgbClr val="000000"/>
                          </a:solidFill>
                          <a:latin typeface="Helvetica Neue"/>
                        </a:rPr>
                        <a:t>3.51億円</a:t>
                      </a:r>
                    </a:p>
                  </a:txBody>
                  <a:tcPr marL="73152" marR="73152" marT="27432" marB="27432" anchor="ctr">
                    <a:solidFill>
                      <a:srgbClr val="FFFFFF"/>
                    </a:solidFill>
                  </a:tcPr>
                </a:tc>
              </a:tr>
              <a:tr h="365760">
                <a:tc>
                  <a:txBody>
                    <a:bodyPr wrap="square"/>
                    <a:lstStyle/>
                    <a:p>
                      <a:r>
                        <a:rPr sz="950" b="1">
                          <a:solidFill>
                            <a:srgbClr val="000000"/>
                          </a:solidFill>
                          <a:latin typeface="Helvetica Neue"/>
                        </a:rPr>
                        <a:t>50-100万円</a:t>
                      </a:r>
                    </a:p>
                  </a:txBody>
                  <a:tcPr marL="73152" marR="73152" marT="27432" marB="27432" anchor="ctr">
                    <a:solidFill>
                      <a:srgbClr val="E9E7E5"/>
                    </a:solidFill>
                  </a:tcPr>
                </a:tc>
                <a:tc>
                  <a:txBody>
                    <a:bodyPr wrap="square"/>
                    <a:lstStyle/>
                    <a:p>
                      <a:r>
                        <a:rPr sz="950" b="0">
                          <a:solidFill>
                            <a:srgbClr val="000000"/>
                          </a:solidFill>
                          <a:latin typeface="Helvetica Neue"/>
                        </a:rPr>
                        <a:t>658人</a:t>
                      </a:r>
                    </a:p>
                  </a:txBody>
                  <a:tcPr marL="73152" marR="73152" marT="27432" marB="27432" anchor="ctr">
                    <a:solidFill>
                      <a:srgbClr val="E9E7E5"/>
                    </a:solidFill>
                  </a:tcPr>
                </a:tc>
                <a:tc>
                  <a:txBody>
                    <a:bodyPr wrap="square"/>
                    <a:lstStyle/>
                    <a:p>
                      <a:r>
                        <a:rPr sz="950" b="0">
                          <a:solidFill>
                            <a:srgbClr val="000000"/>
                          </a:solidFill>
                          <a:latin typeface="Helvetica Neue"/>
                        </a:rPr>
                        <a:t>346人</a:t>
                      </a:r>
                    </a:p>
                  </a:txBody>
                  <a:tcPr marL="73152" marR="73152" marT="27432" marB="27432" anchor="ctr">
                    <a:solidFill>
                      <a:srgbClr val="E9E7E5"/>
                    </a:solidFill>
                  </a:tcPr>
                </a:tc>
                <a:tc>
                  <a:txBody>
                    <a:bodyPr wrap="square"/>
                    <a:lstStyle/>
                    <a:p>
                      <a:r>
                        <a:rPr sz="950" b="0">
                          <a:solidFill>
                            <a:srgbClr val="000000"/>
                          </a:solidFill>
                          <a:latin typeface="Helvetica Neue"/>
                        </a:rPr>
                        <a:t>53%</a:t>
                      </a:r>
                    </a:p>
                  </a:txBody>
                  <a:tcPr marL="73152" marR="73152" marT="27432" marB="27432" anchor="ctr">
                    <a:solidFill>
                      <a:srgbClr val="E9E7E5"/>
                    </a:solidFill>
                  </a:tcPr>
                </a:tc>
                <a:tc>
                  <a:txBody>
                    <a:bodyPr wrap="square"/>
                    <a:lstStyle/>
                    <a:p>
                      <a:r>
                        <a:rPr sz="950" b="0">
                          <a:solidFill>
                            <a:srgbClr val="000000"/>
                          </a:solidFill>
                          <a:latin typeface="Helvetica Neue"/>
                        </a:rPr>
                        <a:t>2.29億円</a:t>
                      </a:r>
                    </a:p>
                  </a:txBody>
                  <a:tcPr marL="73152" marR="73152" marT="27432" marB="27432" anchor="ctr">
                    <a:solidFill>
                      <a:srgbClr val="E9E7E5"/>
                    </a:solidFill>
                  </a:tcPr>
                </a:tc>
              </a:tr>
              <a:tr h="365760">
                <a:tc>
                  <a:txBody>
                    <a:bodyPr wrap="square"/>
                    <a:lstStyle/>
                    <a:p>
                      <a:r>
                        <a:rPr sz="950" b="1">
                          <a:solidFill>
                            <a:srgbClr val="000000"/>
                          </a:solidFill>
                          <a:latin typeface="Helvetica Neue"/>
                        </a:rPr>
                        <a:t>100万円以上</a:t>
                      </a:r>
                    </a:p>
                  </a:txBody>
                  <a:tcPr marL="73152" marR="73152" marT="27432" marB="27432" anchor="ctr">
                    <a:solidFill>
                      <a:srgbClr val="FFFFFF"/>
                    </a:solidFill>
                  </a:tcPr>
                </a:tc>
                <a:tc>
                  <a:txBody>
                    <a:bodyPr wrap="square"/>
                    <a:lstStyle/>
                    <a:p>
                      <a:r>
                        <a:rPr sz="950" b="0">
                          <a:solidFill>
                            <a:srgbClr val="000000"/>
                          </a:solidFill>
                          <a:latin typeface="Helvetica Neue"/>
                        </a:rPr>
                        <a:t>357人</a:t>
                      </a:r>
                    </a:p>
                  </a:txBody>
                  <a:tcPr marL="73152" marR="73152" marT="27432" marB="27432" anchor="ctr">
                    <a:solidFill>
                      <a:srgbClr val="FFFFFF"/>
                    </a:solidFill>
                  </a:tcPr>
                </a:tc>
                <a:tc>
                  <a:txBody>
                    <a:bodyPr wrap="square"/>
                    <a:lstStyle/>
                    <a:p>
                      <a:r>
                        <a:rPr sz="950" b="0">
                          <a:solidFill>
                            <a:srgbClr val="000000"/>
                          </a:solidFill>
                          <a:latin typeface="Helvetica Neue"/>
                        </a:rPr>
                        <a:t>78人</a:t>
                      </a:r>
                    </a:p>
                  </a:txBody>
                  <a:tcPr marL="73152" marR="73152" marT="27432" marB="27432" anchor="ctr">
                    <a:solidFill>
                      <a:srgbClr val="FFFFFF"/>
                    </a:solidFill>
                  </a:tcPr>
                </a:tc>
                <a:tc>
                  <a:txBody>
                    <a:bodyPr wrap="square"/>
                    <a:lstStyle/>
                    <a:p>
                      <a:r>
                        <a:rPr sz="950" b="0">
                          <a:solidFill>
                            <a:srgbClr val="000000"/>
                          </a:solidFill>
                          <a:latin typeface="Helvetica Neue"/>
                        </a:rPr>
                        <a:t>22%</a:t>
                      </a:r>
                    </a:p>
                  </a:txBody>
                  <a:tcPr marL="73152" marR="73152" marT="27432" marB="27432" anchor="ctr">
                    <a:solidFill>
                      <a:srgbClr val="FFFFFF"/>
                    </a:solidFill>
                  </a:tcPr>
                </a:tc>
                <a:tc>
                  <a:txBody>
                    <a:bodyPr wrap="square"/>
                    <a:lstStyle/>
                    <a:p>
                      <a:r>
                        <a:rPr sz="950" b="0">
                          <a:solidFill>
                            <a:srgbClr val="000000"/>
                          </a:solidFill>
                          <a:latin typeface="Helvetica Neue"/>
                        </a:rPr>
                        <a:t>1.17億円</a:t>
                      </a:r>
                    </a:p>
                  </a:txBody>
                  <a:tcPr marL="73152" marR="73152" marT="27432" marB="27432" anchor="ctr">
                    <a:solidFill>
                      <a:srgbClr val="FFFFFF"/>
                    </a:solidFill>
                  </a:tcPr>
                </a:tc>
              </a:tr>
              <a:tr h="365760">
                <a:tc>
                  <a:txBody>
                    <a:bodyPr wrap="square"/>
                    <a:lstStyle/>
                    <a:p>
                      <a:r>
                        <a:rPr sz="950" b="1">
                          <a:solidFill>
                            <a:srgbClr val="000000"/>
                          </a:solidFill>
                          <a:latin typeface="Helvetica Neue"/>
                        </a:rPr>
                        <a:t>合計</a:t>
                      </a:r>
                    </a:p>
                  </a:txBody>
                  <a:tcPr marL="73152" marR="73152" marT="27432" marB="27432" anchor="ctr">
                    <a:solidFill>
                      <a:srgbClr val="E9E7E5"/>
                    </a:solidFill>
                  </a:tcPr>
                </a:tc>
                <a:tc>
                  <a:txBody>
                    <a:bodyPr wrap="square"/>
                    <a:lstStyle/>
                    <a:p>
                      <a:r>
                        <a:rPr sz="950" b="0">
                          <a:solidFill>
                            <a:srgbClr val="000000"/>
                          </a:solidFill>
                          <a:latin typeface="Helvetica Neue"/>
                        </a:rPr>
                        <a:t>25,462人</a:t>
                      </a:r>
                    </a:p>
                  </a:txBody>
                  <a:tcPr marL="73152" marR="73152" marT="27432" marB="27432" anchor="ctr">
                    <a:solidFill>
                      <a:srgbClr val="E9E7E5"/>
                    </a:solidFill>
                  </a:tcPr>
                </a:tc>
                <a:tc>
                  <a:txBody>
                    <a:bodyPr wrap="square"/>
                    <a:lstStyle/>
                    <a:p>
                      <a:r>
                        <a:rPr sz="950" b="0">
                          <a:solidFill>
                            <a:srgbClr val="000000"/>
                          </a:solidFill>
                          <a:latin typeface="Helvetica Neue"/>
                        </a:rPr>
                        <a:t>23,493人</a:t>
                      </a:r>
                    </a:p>
                  </a:txBody>
                  <a:tcPr marL="73152" marR="73152" marT="27432" marB="27432" anchor="ctr">
                    <a:solidFill>
                      <a:srgbClr val="E9E7E5"/>
                    </a:solidFill>
                  </a:tcPr>
                </a:tc>
                <a:tc>
                  <a:txBody>
                    <a:bodyPr wrap="square"/>
                    <a:lstStyle/>
                    <a:p>
                      <a:r>
                        <a:rPr sz="950" b="0">
                          <a:solidFill>
                            <a:srgbClr val="000000"/>
                          </a:solidFill>
                          <a:latin typeface="Helvetica Neue"/>
                        </a:rPr>
                        <a:t>92%</a:t>
                      </a:r>
                    </a:p>
                  </a:txBody>
                  <a:tcPr marL="73152" marR="73152" marT="27432" marB="27432" anchor="ctr">
                    <a:solidFill>
                      <a:srgbClr val="E9E7E5"/>
                    </a:solidFill>
                  </a:tcPr>
                </a:tc>
                <a:tc>
                  <a:txBody>
                    <a:bodyPr wrap="square"/>
                    <a:lstStyle/>
                    <a:p>
                      <a:r>
                        <a:rPr sz="950" b="0">
                          <a:solidFill>
                            <a:srgbClr val="000000"/>
                          </a:solidFill>
                          <a:latin typeface="Helvetica Neue"/>
                        </a:rPr>
                        <a:t>30.51億円</a:t>
                      </a:r>
                    </a:p>
                  </a:txBody>
                  <a:tcPr marL="73152" marR="73152" marT="27432" marB="27432" anchor="ctr">
                    <a:solidFill>
                      <a:srgbClr val="E9E7E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リテンションは改善。ただし上位客だけ悪化している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4.4</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27432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全体の数字は良くなっているが、最も守るべき層で逆行が起きている。</a:t>
            </a:r>
          </a:p>
        </p:txBody>
      </p:sp>
      <p:sp>
        <p:nvSpPr>
          <p:cNvPr id="170" name="Rectangle 169"/>
          <p:cNvSpPr/>
          <p:nvPr/>
        </p:nvSpPr>
        <p:spPr>
          <a:xfrm>
            <a:off x="1078992" y="1563624"/>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51790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再購入率 6.6% → 7.7%</a:t>
            </a:r>
          </a:p>
        </p:txBody>
      </p:sp>
      <p:sp>
        <p:nvSpPr>
          <p:cNvPr id="172" name="TextBox 171"/>
          <p:cNvSpPr txBox="1"/>
          <p:nvPr/>
        </p:nvSpPr>
        <p:spPr>
          <a:xfrm>
            <a:off x="1280160" y="1792224"/>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前年購入者のうち上期に再購入した比率。1.1pt改善した。</a:t>
            </a:r>
          </a:p>
        </p:txBody>
      </p:sp>
      <p:sp>
        <p:nvSpPr>
          <p:cNvPr id="173" name="Rectangle 172"/>
          <p:cNvSpPr/>
          <p:nvPr/>
        </p:nvSpPr>
        <p:spPr>
          <a:xfrm>
            <a:off x="1078992" y="2875787"/>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83006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売上加重リテンション 22.2% → 25.6%</a:t>
            </a:r>
          </a:p>
        </p:txBody>
      </p:sp>
      <p:sp>
        <p:nvSpPr>
          <p:cNvPr id="175" name="TextBox 174"/>
          <p:cNvSpPr txBox="1"/>
          <p:nvPr/>
        </p:nvSpPr>
        <p:spPr>
          <a:xfrm>
            <a:off x="1280160" y="3104387"/>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金額ベースで見た維持率は3.4pt改善。単価の高い顧客が残っている。</a:t>
            </a:r>
          </a:p>
        </p:txBody>
      </p:sp>
      <p:sp>
        <p:nvSpPr>
          <p:cNvPr id="176" name="Rectangle 175"/>
          <p:cNvSpPr/>
          <p:nvPr/>
        </p:nvSpPr>
        <p:spPr>
          <a:xfrm>
            <a:off x="4754879" y="1563624"/>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956047" y="151790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50万円以上顧客 61.2% → 58.2%</a:t>
            </a:r>
          </a:p>
        </p:txBody>
      </p:sp>
      <p:sp>
        <p:nvSpPr>
          <p:cNvPr id="178" name="TextBox 177"/>
          <p:cNvSpPr txBox="1"/>
          <p:nvPr/>
        </p:nvSpPr>
        <p:spPr>
          <a:xfrm>
            <a:off x="4956047" y="1792224"/>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唯一悪化した指標。最も守るべき上位客のリテンションが3.0pt低下している。全体の改善に隠れて見えなくなりやすい。</a:t>
            </a:r>
          </a:p>
        </p:txBody>
      </p:sp>
      <p:sp>
        <p:nvSpPr>
          <p:cNvPr id="179" name="Rectangle 178"/>
          <p:cNvSpPr/>
          <p:nvPr/>
        </p:nvSpPr>
        <p:spPr>
          <a:xfrm>
            <a:off x="4754879" y="2875787"/>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956047" y="283006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見るべき順序</a:t>
            </a:r>
          </a:p>
        </p:txBody>
      </p:sp>
      <p:sp>
        <p:nvSpPr>
          <p:cNvPr id="181" name="TextBox 180"/>
          <p:cNvSpPr txBox="1"/>
          <p:nvPr/>
        </p:nvSpPr>
        <p:spPr>
          <a:xfrm>
            <a:off x="4956047" y="3104387"/>
            <a:ext cx="3108959" cy="100126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全体のリテンション改善を成果と読むのは早い。上位客が抜けた分を、上位に昇格した中間層が埋めている可能性がある。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アパレルが伸び、バッグが落ちる構造転換</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4.5</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RTW（アパレル）は構成比44.8%→49.8%、売上+11.5%。ジャケット・シャツ・プルオーバーが牽引した。</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最大の減少要因はショッピングバッグ単独で-71.3百万円。ただし同じバッグでもハンドバッグは+20.5百万円と伸びており、バッグ全体の不振ではなく特定の商品タイプに問題が集中している。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なお構成比は小さい（3.3%）ものの、フットウェアは売上-33.2%・数量-47.9%と全カテゴリで最も悪化幅が大きい。</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レビュー資料。増減上位の品番グループを抜粋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インバウンドは中国依存から分散へ向かっている</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4.6</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2011680" cy="278892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インバウンド売上は203.7百万円で+2.4%、構成比9.2%。</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ただし取引件数は-17.5%。客単価+24.1%で金額を保った形で、全社と同じ「客数減・単価増」の構造である。</a:t>
            </a:r>
          </a:p>
          <a:p>
            <a:pPr algn="l">
              <a:lnSpc>
                <a:spcPct val="120000"/>
              </a:lnSpc>
            </a:pPr>
            <a:r>
              <a:rPr sz="1000" b="0">
                <a:solidFill>
                  <a:srgbClr val="000000"/>
                </a:solidFill>
                <a:latin typeface="Helvetica Neue"/>
              </a:rPr>
              <a:t/>
            </a:r>
          </a:p>
          <a:p>
            <a:pPr algn="l">
              <a:lnSpc>
                <a:spcPct val="120000"/>
              </a:lnSpc>
            </a:pPr>
            <a:r>
              <a:rPr sz="1000" b="0">
                <a:solidFill>
                  <a:srgbClr val="000000"/>
                </a:solidFill>
                <a:latin typeface="Helvetica Neue"/>
              </a:rPr>
              <a:t>中国は-40%と大きく落ちた。補ったのは米国+35%・台湾+49%だけではない。上位5カ国に入らない「その他」が51.2→71.0百万円（+38.7%）へ拡大し、いまや中国を上回る規模になっている。</a:t>
            </a:r>
          </a:p>
        </p:txBody>
      </p:sp>
      <p:graphicFrame>
        <p:nvGraphicFramePr>
          <p:cNvPr id="170" name="Chart 169"/>
          <p:cNvGraphicFramePr>
            <a:graphicFrameLocks noGrp="1"/>
          </p:cNvGraphicFramePr>
          <p:nvPr/>
        </p:nvGraphicFramePr>
        <p:xfrm>
          <a:off x="3364991" y="1078992"/>
          <a:ext cx="4700016" cy="2788920"/>
        </p:xfrm>
        <a:graphic>
          <a:graphicData uri="http://schemas.openxmlformats.org/drawingml/2006/chart">
            <c:chart xmlns:c="http://schemas.openxmlformats.org/drawingml/2006/chart" r:id="rId2"/>
          </a:graphicData>
        </a:graphic>
      </p:graphicFrame>
      <p:sp>
        <p:nvSpPr>
          <p:cNvPr id="171" name="TextBox 170"/>
          <p:cNvSpPr txBox="1"/>
          <p:nvPr/>
        </p:nvSpPr>
        <p:spPr>
          <a:xfrm>
            <a:off x="1078992" y="4096512"/>
            <a:ext cx="6986016" cy="228600"/>
          </a:xfrm>
          <a:prstGeom prst="rect">
            <a:avLst/>
          </a:prstGeom>
          <a:noFill/>
        </p:spPr>
        <p:txBody>
          <a:bodyPr wrap="square" anchor="t" lIns="0" rIns="0" tIns="0" bIns="0">
            <a:spAutoFit/>
          </a:bodyPr>
          <a:lstStyle/>
          <a:p>
            <a:pPr algn="l">
              <a:lnSpc>
                <a:spcPct val="120000"/>
              </a:lnSpc>
            </a:pPr>
            <a:r>
              <a:rPr sz="800" b="0">
                <a:solidFill>
                  <a:srgbClr val="787878"/>
                </a:solidFill>
                <a:latin typeface="Helvetica Neue"/>
              </a:rPr>
              <a:t>出典: 店長会 2026H1 レビュー資料。「その他」は総額と上位5カ国の差分</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9" name="Google Shape;149;p20"/>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経営として決めるべきこと</a:t>
            </a:r>
            <a:endParaRPr/>
          </a:p>
        </p:txBody>
      </p:sp>
      <p:sp>
        <p:nvSpPr>
          <p:cNvPr id="150" name="Google Shape;150;p20"/>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3</a:t>
            </a:fld>
            <a:endParaRPr>
              <a:latin typeface="Inter Light"/>
              <a:ea typeface="Inter Light"/>
              <a:cs typeface="Inter Light"/>
              <a:sym typeface="Inter Light"/>
            </a:endParaRPr>
          </a:p>
        </p:txBody>
      </p:sp>
      <p:sp>
        <p:nvSpPr>
          <p:cNvPr id="151" name="Google Shape;151;p20"/>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a:latin typeface="Helvetica Neue"/>
                <a:ea typeface="Helvetica Neue"/>
                <a:cs typeface="Helvetica Neue"/>
                <a:sym typeface="Helvetica Neue"/>
              </a:rPr>
              <a:t>5.0</a:t>
            </a:r>
            <a:endParaRPr sz="2200">
              <a:solidFill>
                <a:srgbClr val="000000"/>
              </a:solidFill>
              <a:latin typeface="Helvetica Neue"/>
              <a:ea typeface="Helvetica Neue"/>
              <a:cs typeface="Helvetica Neue"/>
              <a:sym typeface="Helvetica Neue"/>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決めるべきこと① 売上の構造</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5.1</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54864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客数をどう戻すか、セール依存をどこで止めるか。この2つが下期の前提を決める。</a:t>
            </a:r>
          </a:p>
        </p:txBody>
      </p:sp>
      <p:sp>
        <p:nvSpPr>
          <p:cNvPr id="170" name="Rectangle 169"/>
          <p:cNvSpPr/>
          <p:nvPr/>
        </p:nvSpPr>
        <p:spPr>
          <a:xfrm>
            <a:off x="1078992" y="1837943"/>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792224"/>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論点1｜既存店の客数減に歯止めをかけるか</a:t>
            </a:r>
          </a:p>
        </p:txBody>
      </p:sp>
      <p:sp>
        <p:nvSpPr>
          <p:cNvPr id="172" name="TextBox 171"/>
          <p:cNvSpPr txBox="1"/>
          <p:nvPr/>
        </p:nvSpPr>
        <p:spPr>
          <a:xfrm>
            <a:off x="1280160" y="2066543"/>
            <a:ext cx="6784848"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事実: 既存25ドアは客数-12.9%。新店を除けば実質減収。／決めること: 既存店の集客に投資するか。その前提として入店客数の計測に着手するか（現状は設置状況の管理のみ）。</a:t>
            </a:r>
          </a:p>
        </p:txBody>
      </p:sp>
      <p:sp>
        <p:nvSpPr>
          <p:cNvPr id="173" name="Rectangle 172"/>
          <p:cNvSpPr/>
          <p:nvPr/>
        </p:nvSpPr>
        <p:spPr>
          <a:xfrm>
            <a:off x="1078992" y="3012948"/>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967228"/>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論点2｜セール依存に上限を設けるか</a:t>
            </a:r>
          </a:p>
        </p:txBody>
      </p:sp>
      <p:sp>
        <p:nvSpPr>
          <p:cNvPr id="175" name="TextBox 174"/>
          <p:cNvSpPr txBox="1"/>
          <p:nvPr/>
        </p:nvSpPr>
        <p:spPr>
          <a:xfrm>
            <a:off x="1280160" y="3241548"/>
            <a:ext cx="6784848"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事実: プロパー-114百万円をセール+121百万円が相殺。構成比は15.0%→20.4%。値引率は横ばいで、値引きを深めたのではなく量が増えた。／決めること: MD構成比の上限を設けるか。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決めるべきこと② 顧客と商品</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5.2</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54864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新規が細り、上位客が抜け、特定商品が落ちている。打ち手はそれぞれ別である。</a:t>
            </a:r>
          </a:p>
        </p:txBody>
      </p:sp>
      <p:sp>
        <p:nvSpPr>
          <p:cNvPr id="170" name="Rectangle 169"/>
          <p:cNvSpPr/>
          <p:nvPr/>
        </p:nvSpPr>
        <p:spPr>
          <a:xfrm>
            <a:off x="1078992" y="1837943"/>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792224"/>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論点3｜新規獲得と既存育成の配分</a:t>
            </a:r>
          </a:p>
        </p:txBody>
      </p:sp>
      <p:sp>
        <p:nvSpPr>
          <p:cNvPr id="172" name="TextBox 171"/>
          <p:cNvSpPr txBox="1"/>
          <p:nvPr/>
        </p:nvSpPr>
        <p:spPr>
          <a:xfrm>
            <a:off x="1280160" y="2066543"/>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事実: 新規客の減少は約-1.67億円、既存客の増加は約+0.18億円。約9倍の開き。／決めること: 集客・認知への投資を、Clienteling強化と並行してどう配分するか。</a:t>
            </a:r>
          </a:p>
        </p:txBody>
      </p:sp>
      <p:sp>
        <p:nvSpPr>
          <p:cNvPr id="173" name="Rectangle 172"/>
          <p:cNvSpPr/>
          <p:nvPr/>
        </p:nvSpPr>
        <p:spPr>
          <a:xfrm>
            <a:off x="1078992" y="2621280"/>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575560"/>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論点4｜上位顧客の離反にいつ手を打つか</a:t>
            </a:r>
          </a:p>
        </p:txBody>
      </p:sp>
      <p:sp>
        <p:nvSpPr>
          <p:cNvPr id="175" name="TextBox 174"/>
          <p:cNvSpPr txBox="1"/>
          <p:nvPr/>
        </p:nvSpPr>
        <p:spPr>
          <a:xfrm>
            <a:off x="1280160" y="2849880"/>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事実: 全体のリテンションは改善するも、50万円以上顧客だけ61.2%→58.2%と悪化。全体指標に埋もれている。／決めること: 外商・Clientelingの強化と離反原因の調査に着手するか。</a:t>
            </a:r>
          </a:p>
        </p:txBody>
      </p:sp>
      <p:sp>
        <p:nvSpPr>
          <p:cNvPr id="176" name="Rectangle 175"/>
          <p:cNvSpPr/>
          <p:nvPr/>
        </p:nvSpPr>
        <p:spPr>
          <a:xfrm>
            <a:off x="1078992" y="3404616"/>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280160" y="3358896"/>
            <a:ext cx="6784848"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論点5｜バッグとフットウェアの立て直し</a:t>
            </a:r>
          </a:p>
        </p:txBody>
      </p:sp>
      <p:sp>
        <p:nvSpPr>
          <p:cNvPr id="178" name="TextBox 177"/>
          <p:cNvSpPr txBox="1"/>
          <p:nvPr/>
        </p:nvSpPr>
        <p:spPr>
          <a:xfrm>
            <a:off x="1280160" y="3633216"/>
            <a:ext cx="6784848" cy="472440"/>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事実: 不振はShopping Bag -71.3百万円等に集中し、ハンドバッグは+20.5百万円。フットウェアは数量-47.9%と悪化幅が最大。／決めること: 商品タイプ別に仕入れ・VMDを見直すか。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p22"/>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5</a:t>
            </a:fld>
            <a:endParaRPr>
              <a:latin typeface="Inter Light"/>
              <a:ea typeface="Inter Light"/>
              <a:cs typeface="Inter Light"/>
              <a:sym typeface="Inter Light"/>
            </a:endParaRPr>
          </a:p>
        </p:txBody>
      </p:sp>
      <p:sp>
        <p:nvSpPr>
          <p:cNvPr id="165" name="Google Shape;165;p22"/>
          <p:cNvSpPr txBox="1">
            <a:spLocks noGrp="1"/>
          </p:cNvSpPr>
          <p:nvPr>
            <p:ph type="subTitle" idx="1"/>
          </p:nvPr>
        </p:nvSpPr>
        <p:spPr>
          <a:xfrm>
            <a:off x="1079995" y="168107"/>
            <a:ext cx="7699248"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GB"/>
              <a:t>この分析の前提と限界</a:t>
            </a:r>
            <a:endParaRPr/>
          </a:p>
        </p:txBody>
      </p:sp>
      <p:sp>
        <p:nvSpPr>
          <p:cNvPr id="168" name="Google Shape;168;p22"/>
          <p:cNvSpPr txBox="1"/>
          <p:nvPr/>
        </p:nvSpPr>
        <p:spPr>
          <a:xfrm>
            <a:off x="177325" y="162999"/>
            <a:ext cx="7086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200" b="1" dirty="0">
                <a:latin typeface="Helvetica Neue"/>
                <a:ea typeface="Helvetica Neue"/>
                <a:cs typeface="Helvetica Neue"/>
                <a:sym typeface="Helvetica Neue"/>
              </a:rPr>
              <a:t>5.3</a:t>
            </a:r>
            <a:endParaRPr sz="2200" dirty="0">
              <a:solidFill>
                <a:srgbClr val="000000"/>
              </a:solidFill>
              <a:latin typeface="Helvetica Neue"/>
              <a:ea typeface="Helvetica Neue"/>
              <a:cs typeface="Helvetica Neue"/>
              <a:sym typeface="Helvetica Neue"/>
            </a:endParaRPr>
          </a:p>
        </p:txBody>
      </p:sp>
      <p:sp>
        <p:nvSpPr>
          <p:cNvPr id="169" name="TextBox 168"/>
          <p:cNvSpPr txBox="1"/>
          <p:nvPr/>
        </p:nvSpPr>
        <p:spPr>
          <a:xfrm>
            <a:off x="1078992" y="1078992"/>
            <a:ext cx="6986016" cy="548640"/>
          </a:xfrm>
          <a:prstGeom prst="rect">
            <a:avLst/>
          </a:prstGeom>
          <a:noFill/>
        </p:spPr>
        <p:txBody>
          <a:bodyPr wrap="square" anchor="t" lIns="0" rIns="0" tIns="0" bIns="0">
            <a:spAutoFit/>
          </a:bodyPr>
          <a:lstStyle/>
          <a:p>
            <a:pPr algn="l">
              <a:lnSpc>
                <a:spcPct val="120000"/>
              </a:lnSpc>
            </a:pPr>
            <a:r>
              <a:rPr sz="1600" b="0">
                <a:solidFill>
                  <a:srgbClr val="000000"/>
                </a:solidFill>
                <a:latin typeface="Helvetica Neue"/>
              </a:rPr>
              <a:t>下期の意思決定の精度を上げるために、埋めるべきデータの穴を明示する。</a:t>
            </a:r>
          </a:p>
        </p:txBody>
      </p:sp>
      <p:sp>
        <p:nvSpPr>
          <p:cNvPr id="170" name="Rectangle 169"/>
          <p:cNvSpPr/>
          <p:nvPr/>
        </p:nvSpPr>
        <p:spPr>
          <a:xfrm>
            <a:off x="1078992" y="1837943"/>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80160" y="179222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予算データが無い</a:t>
            </a:r>
          </a:p>
        </p:txBody>
      </p:sp>
      <p:sp>
        <p:nvSpPr>
          <p:cNvPr id="172" name="TextBox 171"/>
          <p:cNvSpPr txBox="1"/>
          <p:nvPr/>
        </p:nvSpPr>
        <p:spPr>
          <a:xfrm>
            <a:off x="1280160" y="2066543"/>
            <a:ext cx="3108959"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対計画・達成率は算出できていない。本資料の比較はすべて対前年。上期+0.3%が計画に対して良いのか悪いのかは判断できない。</a:t>
            </a:r>
          </a:p>
        </p:txBody>
      </p:sp>
      <p:sp>
        <p:nvSpPr>
          <p:cNvPr id="173" name="Rectangle 172"/>
          <p:cNvSpPr/>
          <p:nvPr/>
        </p:nvSpPr>
        <p:spPr>
          <a:xfrm>
            <a:off x="1078992" y="3012948"/>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280160" y="296722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入店客数が測れていない</a:t>
            </a:r>
          </a:p>
        </p:txBody>
      </p:sp>
      <p:sp>
        <p:nvSpPr>
          <p:cNvPr id="175" name="TextBox 174"/>
          <p:cNvSpPr txBox="1"/>
          <p:nvPr/>
        </p:nvSpPr>
        <p:spPr>
          <a:xfrm>
            <a:off x="1280160" y="3241548"/>
            <a:ext cx="3108959"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客数-10.8%が「来店が減った」のか「来たが買われなかった」のか切り分けられない。トラフィックカウンターは設置状況の管理にとどまっている。</a:t>
            </a:r>
          </a:p>
        </p:txBody>
      </p:sp>
      <p:sp>
        <p:nvSpPr>
          <p:cNvPr id="176" name="Rectangle 175"/>
          <p:cNvSpPr/>
          <p:nvPr/>
        </p:nvSpPr>
        <p:spPr>
          <a:xfrm>
            <a:off x="4754879" y="1837943"/>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956047" y="1792224"/>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対象は26ドアのみ</a:t>
            </a:r>
          </a:p>
        </p:txBody>
      </p:sp>
      <p:sp>
        <p:nvSpPr>
          <p:cNvPr id="178" name="TextBox 177"/>
          <p:cNvSpPr txBox="1"/>
          <p:nvPr/>
        </p:nvSpPr>
        <p:spPr>
          <a:xfrm>
            <a:off x="4956047" y="2066543"/>
            <a:ext cx="3108959"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本資料はコレクション26ドア（直営＋コンセ）ベース。MARNI MARKET系・カフェ・アウトレット・オンライン・卸は含まない。上期のMARKET系162百万円を含めると絵が変わる。</a:t>
            </a:r>
          </a:p>
        </p:txBody>
      </p:sp>
      <p:sp>
        <p:nvSpPr>
          <p:cNvPr id="179" name="Rectangle 178"/>
          <p:cNvSpPr/>
          <p:nvPr/>
        </p:nvSpPr>
        <p:spPr>
          <a:xfrm>
            <a:off x="4754879" y="3012948"/>
            <a:ext cx="82296" cy="82296"/>
          </a:xfrm>
          <a:prstGeom prst="rect">
            <a:avLst/>
          </a:prstGeom>
          <a:solidFill>
            <a:srgbClr val="DA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956047" y="2967228"/>
            <a:ext cx="3108959" cy="274320"/>
          </a:xfrm>
          <a:prstGeom prst="rect">
            <a:avLst/>
          </a:prstGeom>
          <a:noFill/>
        </p:spPr>
        <p:txBody>
          <a:bodyPr wrap="square" anchor="t" lIns="0" rIns="0" tIns="0" bIns="0">
            <a:spAutoFit/>
          </a:bodyPr>
          <a:lstStyle/>
          <a:p>
            <a:pPr algn="l">
              <a:lnSpc>
                <a:spcPct val="120000"/>
              </a:lnSpc>
            </a:pPr>
            <a:r>
              <a:rPr sz="1200" b="1">
                <a:solidFill>
                  <a:srgbClr val="000000"/>
                </a:solidFill>
                <a:latin typeface="Helvetica Neue"/>
              </a:rPr>
              <a:t>日次データが無い</a:t>
            </a:r>
          </a:p>
        </p:txBody>
      </p:sp>
      <p:sp>
        <p:nvSpPr>
          <p:cNvPr id="181" name="TextBox 180"/>
          <p:cNvSpPr txBox="1"/>
          <p:nvPr/>
        </p:nvSpPr>
        <p:spPr>
          <a:xfrm>
            <a:off x="4956047" y="3241548"/>
            <a:ext cx="3108959" cy="864108"/>
          </a:xfrm>
          <a:prstGeom prst="rect">
            <a:avLst/>
          </a:prstGeom>
          <a:noFill/>
        </p:spPr>
        <p:txBody>
          <a:bodyPr wrap="square" anchor="t" lIns="0" rIns="0" tIns="0" bIns="0">
            <a:spAutoFit/>
          </a:bodyPr>
          <a:lstStyle/>
          <a:p>
            <a:pPr algn="l">
              <a:lnSpc>
                <a:spcPct val="120000"/>
              </a:lnSpc>
            </a:pPr>
            <a:r>
              <a:rPr sz="1000" b="0">
                <a:solidFill>
                  <a:srgbClr val="000000"/>
                </a:solidFill>
                <a:latin typeface="Helvetica Neue"/>
              </a:rPr>
              <a:t>DSR相当の日次明細が見当たらず、月次より細かい動きは追えていない。原本の大容量ファイルは今回読み取れていない。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9" name="Google Shape;229;p27"/>
          <p:cNvSpPr txBox="1">
            <a:spLocks noGrp="1"/>
          </p:cNvSpPr>
          <p:nvPr>
            <p:ph type="subTitle" idx="1"/>
          </p:nvPr>
        </p:nvSpPr>
        <p:spPr>
          <a:xfrm>
            <a:off x="2516850" y="4015575"/>
            <a:ext cx="4110300" cy="492600"/>
          </a:xfrm>
          <a:prstGeom prst="rect">
            <a:avLst/>
          </a:prstGeom>
        </p:spPr>
        <p:txBody>
          <a:bodyPr spcFirstLastPara="1" wrap="square" lIns="91425" tIns="91425" rIns="91425" bIns="91425" anchor="t" anchorCtr="0">
            <a:spAutoFit/>
          </a:bodyPr>
          <a:lstStyle/>
          <a:p>
            <a:pPr marL="0" lvl="0" indent="0" algn="ctr" rtl="0">
              <a:spcBef>
                <a:spcPts val="0"/>
              </a:spcBef>
              <a:spcAft>
                <a:spcPts val="0"/>
              </a:spcAft>
              <a:buNone/>
            </a:pPr>
            <a:r>
              <a:rPr lang="en-GB"/>
              <a:t>Thank You!</a:t>
            </a:r>
            <a:endParaRPr/>
          </a:p>
        </p:txBody>
      </p:sp>
      <p:sp>
        <p:nvSpPr>
          <p:cNvPr id="230" name="Google Shape;230;p27"/>
          <p:cNvSpPr txBox="1">
            <a:spLocks noGrp="1"/>
          </p:cNvSpPr>
          <p:nvPr>
            <p:ph type="sldNum" idx="12"/>
          </p:nvPr>
        </p:nvSpPr>
        <p:spPr>
          <a:xfrm>
            <a:off x="8113758" y="4740600"/>
            <a:ext cx="852900" cy="2769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GB"/>
              <a:t>10</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313</Words>
  <Application>Microsoft Office PowerPoint</Application>
  <PresentationFormat>画面に合わせる (16:9)</PresentationFormat>
  <Paragraphs>79</Paragraphs>
  <Slides>10</Slides>
  <Notes>10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10</vt:i4>
      </vt:variant>
    </vt:vector>
  </HeadingPairs>
  <TitlesOfParts>
    <vt:vector size="15" baseType="lpstr">
      <vt:lpstr>Helvetica Neue Light</vt:lpstr>
      <vt:lpstr>Inter Light</vt:lpstr>
      <vt:lpstr>Arial</vt:lpstr>
      <vt:lpstr>Helvetica Neue</vt:lpstr>
      <vt:lpstr>Simple Light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Subtitle</vt:lpstr>
      <vt:lpstr>Click to add Quote</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石川 孝幸</dc:creator>
  <cp:lastModifiedBy>孝幸 石川</cp:lastModifiedBy>
  <cp:revision>1</cp:revision>
  <dcterms:modified xsi:type="dcterms:W3CDTF">2026-06-09T08:29:43Z</dcterms:modified>
</cp:coreProperties>
</file>