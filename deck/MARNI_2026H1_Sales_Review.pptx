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12"/>
  </p:notesMasterIdLst>
  <p:sldIdLst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前年差（百万円）</c:v>
                </c:pt>
              </c:strCache>
            </c:strRef>
          </c:tx>
          <c:spPr>
            <a:solidFill>
              <a:srgbClr val="DA1212"/>
            </a:solidFill>
          </c:spPr>
          <c:cat>
            <c:strRef>
              <c:f>Sheet1!$A$2:$A$4</c:f>
              <c:strCache>
                <c:ptCount val="3"/>
                <c:pt idx="0">
                  <c:v>客数（TR）要因</c:v>
                </c:pt>
                <c:pt idx="1">
                  <c:v>客単価（ATV）要因</c:v>
                </c:pt>
                <c:pt idx="2">
                  <c:v>差引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-239.0</c:v>
                </c:pt>
                <c:pt idx="1">
                  <c:v>246.0</c:v>
                </c:pt>
                <c:pt idx="2">
                  <c:v>7.0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2D2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00000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前年差（百万円）</c:v>
                </c:pt>
              </c:strCache>
            </c:strRef>
          </c:tx>
          <c:spPr>
            <a:solidFill>
              <a:srgbClr val="DA1212"/>
            </a:solidFill>
          </c:spPr>
          <c:cat>
            <c:strRef>
              <c:f>Sheet1!$A$2:$A$3</c:f>
              <c:strCache>
                <c:ptCount val="2"/>
                <c:pt idx="0">
                  <c:v>買上点数（UPT）要因</c:v>
                </c:pt>
                <c:pt idx="1">
                  <c:v>1点単価（AP）要因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47.1</c:v>
                </c:pt>
                <c:pt idx="1">
                  <c:v>191.4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2D2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00000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 上期（百万円）</c:v>
                </c:pt>
              </c:strCache>
            </c:strRef>
          </c:tx>
          <c:spPr>
            <a:solidFill>
              <a:srgbClr val="DA1212"/>
            </a:solidFill>
          </c:spPr>
          <c:cat>
            <c:strRef>
              <c:f>Sheet1!$A$2:$A$3</c:f>
              <c:strCache>
                <c:ptCount val="2"/>
                <c:pt idx="0">
                  <c:v>プロパー（FP）売上</c:v>
                </c:pt>
                <c:pt idx="1">
                  <c:v>セール（MD）売上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1884</c:v>
                </c:pt>
                <c:pt idx="1">
                  <c:v>332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 上期（百万円）</c:v>
                </c:pt>
              </c:strCache>
            </c:strRef>
          </c:tx>
          <c:spPr>
            <a:solidFill>
              <a:srgbClr val="000000"/>
            </a:solidFill>
          </c:spPr>
          <c:cat>
            <c:strRef>
              <c:f>Sheet1!$A$2:$A$3</c:f>
              <c:strCache>
                <c:ptCount val="2"/>
                <c:pt idx="0">
                  <c:v>プロパー（FP）売上</c:v>
                </c:pt>
                <c:pt idx="1">
                  <c:v>セール（MD）売上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1770</c:v>
                </c:pt>
                <c:pt idx="1">
                  <c:v>453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2D2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000000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2025年（百万円）</c:v>
                </c:pt>
              </c:strCache>
            </c:strRef>
          </c:tx>
          <c:spPr>
            <a:ln w="25400">
              <a:solidFill>
                <a:srgbClr val="DA1212"/>
              </a:solidFill>
            </a:ln>
          </c:spPr>
          <c:marker>
            <c:spPr>
              <a:solidFill>
                <a:srgbClr val="DA1212"/>
              </a:solidFill>
              <a:ln>
                <a:noFill/>
              </a:ln>
            </c:spPr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398.8</c:v>
                </c:pt>
                <c:pt idx="1">
                  <c:v>335.4</c:v>
                </c:pt>
                <c:pt idx="2">
                  <c:v>378.9</c:v>
                </c:pt>
                <c:pt idx="3">
                  <c:v>333.1</c:v>
                </c:pt>
                <c:pt idx="4">
                  <c:v>317.3</c:v>
                </c:pt>
                <c:pt idx="5">
                  <c:v>452.5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2026年（百万円）</c:v>
                </c:pt>
              </c:strCache>
            </c:strRef>
          </c:tx>
          <c:spPr>
            <a:ln w="25400">
              <a:solidFill>
                <a:srgbClr val="000000"/>
              </a:solidFill>
            </a:ln>
          </c:spPr>
          <c:marker>
            <c:spPr>
              <a:solidFill>
                <a:srgbClr val="000000"/>
              </a:solidFill>
              <a:ln>
                <a:noFill/>
              </a:ln>
            </c:spPr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433.5</c:v>
                </c:pt>
                <c:pt idx="1">
                  <c:v>324.9</c:v>
                </c:pt>
                <c:pt idx="2">
                  <c:v>378.5</c:v>
                </c:pt>
                <c:pt idx="3">
                  <c:v>298.5</c:v>
                </c:pt>
                <c:pt idx="4">
                  <c:v>325.4</c:v>
                </c:pt>
                <c:pt idx="5">
                  <c:v>462.2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2D2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000000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Net売上 前年比（%）</c:v>
                </c:pt>
              </c:strCache>
            </c:strRef>
          </c:tx>
          <c:spPr>
            <a:solidFill>
              <a:srgbClr val="DA1212"/>
            </a:solidFill>
          </c:spPr>
          <c:cat>
            <c:strRef>
              <c:f>Sheet1!$A$2:$A$9</c:f>
              <c:strCache>
                <c:ptCount val="8"/>
                <c:pt idx="0">
                  <c:v>梅田阪急ドンナ</c:v>
                </c:pt>
                <c:pt idx="1">
                  <c:v>心斎橋大丸</c:v>
                </c:pt>
                <c:pt idx="2">
                  <c:v>大阪高島屋</c:v>
                </c:pt>
                <c:pt idx="3">
                  <c:v>名古屋松坂屋</c:v>
                </c:pt>
                <c:pt idx="4">
                  <c:v>新宿伊勢丹ウォモ</c:v>
                </c:pt>
                <c:pt idx="5">
                  <c:v>渋谷スクランブル</c:v>
                </c:pt>
                <c:pt idx="6">
                  <c:v>京都伊勢丹ACC</c:v>
                </c:pt>
                <c:pt idx="7">
                  <c:v>京都BAL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31.9</c:v>
                </c:pt>
                <c:pt idx="1">
                  <c:v>19.3</c:v>
                </c:pt>
                <c:pt idx="2">
                  <c:v>17.1</c:v>
                </c:pt>
                <c:pt idx="3">
                  <c:v>7.7</c:v>
                </c:pt>
                <c:pt idx="4">
                  <c:v>6.7</c:v>
                </c:pt>
                <c:pt idx="5">
                  <c:v>-20.8</c:v>
                </c:pt>
                <c:pt idx="6">
                  <c:v>-24.9</c:v>
                </c:pt>
                <c:pt idx="7">
                  <c:v>-38.6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2D2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00000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取引件数 前年差（件）</c:v>
                </c:pt>
              </c:strCache>
            </c:strRef>
          </c:tx>
          <c:spPr>
            <a:solidFill>
              <a:srgbClr val="DA1212"/>
            </a:solidFill>
          </c:spPr>
          <c:cat>
            <c:strRef>
              <c:f>Sheet1!$A$2:$A$4</c:f>
              <c:strCache>
                <c:ptCount val="3"/>
                <c:pt idx="0">
                  <c:v>既存顧客</c:v>
                </c:pt>
                <c:pt idx="1">
                  <c:v>新規顧客</c:v>
                </c:pt>
                <c:pt idx="2">
                  <c:v>非登録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</c:v>
                </c:pt>
                <c:pt idx="1">
                  <c:v>-1369</c:v>
                </c:pt>
                <c:pt idx="2">
                  <c:v>-615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2D2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00000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顧客数 前年比（%）</c:v>
                </c:pt>
              </c:strCache>
            </c:strRef>
          </c:tx>
          <c:spPr>
            <a:solidFill>
              <a:srgbClr val="DA1212"/>
            </a:solidFill>
          </c:spPr>
          <c:cat>
            <c:strRef>
              <c:f>Sheet1!$A$2:$A$7</c:f>
              <c:strCache>
                <c:ptCount val="6"/>
                <c:pt idx="0">
                  <c:v>300万円以上</c:v>
                </c:pt>
                <c:pt idx="1">
                  <c:v>100-300万円</c:v>
                </c:pt>
                <c:pt idx="2">
                  <c:v>50-100万円</c:v>
                </c:pt>
                <c:pt idx="3">
                  <c:v>30-50万円</c:v>
                </c:pt>
                <c:pt idx="4">
                  <c:v>10-30万円</c:v>
                </c:pt>
                <c:pt idx="5">
                  <c:v>10万円未満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60.0</c:v>
                </c:pt>
                <c:pt idx="1">
                  <c:v>27.4</c:v>
                </c:pt>
                <c:pt idx="2">
                  <c:v>12.0</c:v>
                </c:pt>
                <c:pt idx="3">
                  <c:v>15.5</c:v>
                </c:pt>
                <c:pt idx="4">
                  <c:v>-3.3</c:v>
                </c:pt>
                <c:pt idx="5">
                  <c:v>-17.1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2D2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00000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前年差（百万円）</c:v>
                </c:pt>
              </c:strCache>
            </c:strRef>
          </c:tx>
          <c:spPr>
            <a:solidFill>
              <a:srgbClr val="DA1212"/>
            </a:solidFill>
          </c:spPr>
          <c:cat>
            <c:strRef>
              <c:f>Sheet1!$A$2:$A$10</c:f>
              <c:strCache>
                <c:ptCount val="9"/>
                <c:pt idx="0">
                  <c:v>Jackets</c:v>
                </c:pt>
                <c:pt idx="1">
                  <c:v>Shirts</c:v>
                </c:pt>
                <c:pt idx="2">
                  <c:v>Pullovers</c:v>
                </c:pt>
                <c:pt idx="3">
                  <c:v>T-shirts</c:v>
                </c:pt>
                <c:pt idx="4">
                  <c:v>Handbags</c:v>
                </c:pt>
                <c:pt idx="5">
                  <c:v>Dresses</c:v>
                </c:pt>
                <c:pt idx="6">
                  <c:v>Sweaters</c:v>
                </c:pt>
                <c:pt idx="7">
                  <c:v>Shoulder Bag</c:v>
                </c:pt>
                <c:pt idx="8">
                  <c:v>Shopping Bag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36.6</c:v>
                </c:pt>
                <c:pt idx="1">
                  <c:v>31.4</c:v>
                </c:pt>
                <c:pt idx="2">
                  <c:v>24.1</c:v>
                </c:pt>
                <c:pt idx="3">
                  <c:v>22.9</c:v>
                </c:pt>
                <c:pt idx="4">
                  <c:v>20.5</c:v>
                </c:pt>
                <c:pt idx="5">
                  <c:v>-10.3</c:v>
                </c:pt>
                <c:pt idx="6">
                  <c:v>-11.8</c:v>
                </c:pt>
                <c:pt idx="7">
                  <c:v>-18.5</c:v>
                </c:pt>
                <c:pt idx="8">
                  <c:v>-71.3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2D2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00000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 上期（百万円）</c:v>
                </c:pt>
              </c:strCache>
            </c:strRef>
          </c:tx>
          <c:spPr>
            <a:solidFill>
              <a:srgbClr val="DA1212"/>
            </a:solidFill>
          </c:spPr>
          <c:cat>
            <c:strRef>
              <c:f>Sheet1!$A$2:$A$6</c:f>
              <c:strCache>
                <c:ptCount val="5"/>
                <c:pt idx="0">
                  <c:v>中国</c:v>
                </c:pt>
                <c:pt idx="1">
                  <c:v>米国</c:v>
                </c:pt>
                <c:pt idx="2">
                  <c:v>台湾</c:v>
                </c:pt>
                <c:pt idx="3">
                  <c:v>韓国</c:v>
                </c:pt>
                <c:pt idx="4">
                  <c:v>香港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89.7</c:v>
                </c:pt>
                <c:pt idx="1">
                  <c:v>20.1</c:v>
                </c:pt>
                <c:pt idx="2">
                  <c:v>16.0</c:v>
                </c:pt>
                <c:pt idx="3">
                  <c:v>12.6</c:v>
                </c:pt>
                <c:pt idx="4">
                  <c:v>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 上期（百万円）</c:v>
                </c:pt>
              </c:strCache>
            </c:strRef>
          </c:tx>
          <c:spPr>
            <a:solidFill>
              <a:srgbClr val="000000"/>
            </a:solidFill>
          </c:spPr>
          <c:cat>
            <c:strRef>
              <c:f>Sheet1!$A$2:$A$6</c:f>
              <c:strCache>
                <c:ptCount val="5"/>
                <c:pt idx="0">
                  <c:v>中国</c:v>
                </c:pt>
                <c:pt idx="1">
                  <c:v>米国</c:v>
                </c:pt>
                <c:pt idx="2">
                  <c:v>台湾</c:v>
                </c:pt>
                <c:pt idx="3">
                  <c:v>韓国</c:v>
                </c:pt>
                <c:pt idx="4">
                  <c:v>香港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53.6</c:v>
                </c:pt>
                <c:pt idx="1">
                  <c:v>27.1</c:v>
                </c:pt>
                <c:pt idx="2">
                  <c:v>23.9</c:v>
                </c:pt>
                <c:pt idx="3">
                  <c:v>15.3</c:v>
                </c:pt>
                <c:pt idx="4">
                  <c:v>12.8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2D2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000000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" type="title">
  <p:cSld name="TITLE">
    <p:bg>
      <p:bgPr>
        <a:solidFill>
          <a:srgbClr val="F5EBE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 title="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516850" y="4004695"/>
            <a:ext cx="41103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3351292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Marni 2026, All rights reserved</a:t>
            </a:r>
            <a:endParaRPr sz="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177325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August 26</a:t>
            </a:r>
            <a:endParaRPr sz="6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Page 1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 title="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3351292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Marni 2026, All rights reserved</a:t>
            </a:r>
            <a:endParaRPr sz="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77325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August 26</a:t>
            </a:r>
            <a:endParaRPr sz="6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SECTION_HEADER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1">
  <p:cSld name="SECTION_HEADER_1_2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1075775" y="1080000"/>
            <a:ext cx="2231400" cy="30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>
            <a:spLocks noGrp="1"/>
          </p:cNvSpPr>
          <p:nvPr>
            <p:ph type="pic" idx="3"/>
          </p:nvPr>
        </p:nvSpPr>
        <p:spPr>
          <a:xfrm>
            <a:off x="3459000" y="1080000"/>
            <a:ext cx="4605000" cy="30600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2">
  <p:cSld name="SECTION_HEADER_1_2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ubTitle" idx="2"/>
          </p:nvPr>
        </p:nvSpPr>
        <p:spPr>
          <a:xfrm>
            <a:off x="5832600" y="1080000"/>
            <a:ext cx="2231400" cy="30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>
            <a:spLocks noGrp="1"/>
          </p:cNvSpPr>
          <p:nvPr>
            <p:ph type="pic" idx="3"/>
          </p:nvPr>
        </p:nvSpPr>
        <p:spPr>
          <a:xfrm>
            <a:off x="1080000" y="1080000"/>
            <a:ext cx="4605000" cy="30600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 3">
  <p:cSld name="SECTION_HEADER_1_2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1075770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ubTitle" idx="2"/>
          </p:nvPr>
        </p:nvSpPr>
        <p:spPr>
          <a:xfrm>
            <a:off x="1075775" y="1080000"/>
            <a:ext cx="2231400" cy="30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3"/>
          </p:nvPr>
        </p:nvSpPr>
        <p:spPr>
          <a:xfrm>
            <a:off x="5832600" y="1080000"/>
            <a:ext cx="2231400" cy="30600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42" name="Google Shape;42;p7"/>
          <p:cNvSpPr txBox="1">
            <a:spLocks noGrp="1"/>
          </p:cNvSpPr>
          <p:nvPr>
            <p:ph type="subTitle" idx="4"/>
          </p:nvPr>
        </p:nvSpPr>
        <p:spPr>
          <a:xfrm>
            <a:off x="3456300" y="1080000"/>
            <a:ext cx="2231400" cy="30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Page 2 2 2">
  <p:cSld name="SECTION_HEADER_1_2_2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" name="Google Shape;45;p8"/>
          <p:cNvSpPr txBox="1">
            <a:spLocks noGrp="1"/>
          </p:cNvSpPr>
          <p:nvPr>
            <p:ph type="subTitle" idx="1"/>
          </p:nvPr>
        </p:nvSpPr>
        <p:spPr>
          <a:xfrm>
            <a:off x="1075770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1080000" y="1080000"/>
            <a:ext cx="2231400" cy="3060000"/>
          </a:xfrm>
          <a:prstGeom prst="rect">
            <a:avLst/>
          </a:prstGeom>
          <a:solidFill>
            <a:srgbClr val="DA12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3456300" y="1080000"/>
            <a:ext cx="2231400" cy="102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3456300" y="2100000"/>
            <a:ext cx="2231400" cy="1020000"/>
          </a:xfrm>
          <a:prstGeom prst="rect">
            <a:avLst/>
          </a:prstGeom>
          <a:solidFill>
            <a:srgbClr val="9D53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3456300" y="3120000"/>
            <a:ext cx="2231400" cy="1020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5832600" y="1080000"/>
            <a:ext cx="2231400" cy="1020000"/>
          </a:xfrm>
          <a:prstGeom prst="rect">
            <a:avLst/>
          </a:prstGeom>
          <a:solidFill>
            <a:srgbClr val="4020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5832600" y="2100000"/>
            <a:ext cx="2231400" cy="1020000"/>
          </a:xfrm>
          <a:prstGeom prst="rect">
            <a:avLst/>
          </a:prstGeom>
          <a:solidFill>
            <a:srgbClr val="B7AC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5832600" y="3120000"/>
            <a:ext cx="2231400" cy="1020000"/>
          </a:xfrm>
          <a:prstGeom prst="rect">
            <a:avLst/>
          </a:prstGeom>
          <a:solidFill>
            <a:srgbClr val="FBF5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Images">
  <p:cSld name="SECTION_HEADER_1_2_2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>
            <a:spLocks noGrp="1"/>
          </p:cNvSpPr>
          <p:nvPr>
            <p:ph type="pic" idx="2"/>
          </p:nvPr>
        </p:nvSpPr>
        <p:spPr>
          <a:xfrm>
            <a:off x="1077850" y="1080000"/>
            <a:ext cx="1687800" cy="12033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57" name="Google Shape;57;p9"/>
          <p:cNvSpPr>
            <a:spLocks noGrp="1"/>
          </p:cNvSpPr>
          <p:nvPr>
            <p:ph type="pic" idx="3"/>
          </p:nvPr>
        </p:nvSpPr>
        <p:spPr>
          <a:xfrm>
            <a:off x="2845388" y="1080000"/>
            <a:ext cx="1687800" cy="12033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58" name="Google Shape;58;p9"/>
          <p:cNvSpPr>
            <a:spLocks noGrp="1"/>
          </p:cNvSpPr>
          <p:nvPr>
            <p:ph type="pic" idx="4"/>
          </p:nvPr>
        </p:nvSpPr>
        <p:spPr>
          <a:xfrm>
            <a:off x="4611863" y="1080000"/>
            <a:ext cx="1687800" cy="12033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59" name="Google Shape;59;p9"/>
          <p:cNvSpPr>
            <a:spLocks noGrp="1"/>
          </p:cNvSpPr>
          <p:nvPr>
            <p:ph type="pic" idx="5"/>
          </p:nvPr>
        </p:nvSpPr>
        <p:spPr>
          <a:xfrm>
            <a:off x="1077850" y="2579050"/>
            <a:ext cx="1687800" cy="12033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0" name="Google Shape;60;p9"/>
          <p:cNvSpPr>
            <a:spLocks noGrp="1"/>
          </p:cNvSpPr>
          <p:nvPr>
            <p:ph type="pic" idx="6"/>
          </p:nvPr>
        </p:nvSpPr>
        <p:spPr>
          <a:xfrm>
            <a:off x="2845388" y="2579050"/>
            <a:ext cx="1687800" cy="12033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1" name="Google Shape;61;p9"/>
          <p:cNvSpPr>
            <a:spLocks noGrp="1"/>
          </p:cNvSpPr>
          <p:nvPr>
            <p:ph type="pic" idx="7"/>
          </p:nvPr>
        </p:nvSpPr>
        <p:spPr>
          <a:xfrm>
            <a:off x="4611863" y="2579050"/>
            <a:ext cx="1687800" cy="12033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2" name="Google Shape;62;p9"/>
          <p:cNvSpPr>
            <a:spLocks noGrp="1"/>
          </p:cNvSpPr>
          <p:nvPr>
            <p:ph type="pic" idx="8"/>
          </p:nvPr>
        </p:nvSpPr>
        <p:spPr>
          <a:xfrm>
            <a:off x="6378338" y="2579050"/>
            <a:ext cx="1687800" cy="12033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3" name="Google Shape;63;p9"/>
          <p:cNvSpPr>
            <a:spLocks noGrp="1"/>
          </p:cNvSpPr>
          <p:nvPr>
            <p:ph type="pic" idx="9"/>
          </p:nvPr>
        </p:nvSpPr>
        <p:spPr>
          <a:xfrm>
            <a:off x="6378338" y="1080000"/>
            <a:ext cx="1687800" cy="12033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4" name="Google Shape;64;p9"/>
          <p:cNvSpPr txBox="1">
            <a:spLocks noGrp="1"/>
          </p:cNvSpPr>
          <p:nvPr>
            <p:ph type="subTitle" idx="13"/>
          </p:nvPr>
        </p:nvSpPr>
        <p:spPr>
          <a:xfrm>
            <a:off x="3456300" y="3832200"/>
            <a:ext cx="22314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s">
  <p:cSld name="SECTION_HEADER_1_2_2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" name="Google Shape;67;p10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1077850" y="1080000"/>
            <a:ext cx="1687800" cy="27021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9" name="Google Shape;69;p10"/>
          <p:cNvSpPr>
            <a:spLocks noGrp="1"/>
          </p:cNvSpPr>
          <p:nvPr>
            <p:ph type="pic" idx="3"/>
          </p:nvPr>
        </p:nvSpPr>
        <p:spPr>
          <a:xfrm>
            <a:off x="2845400" y="1080057"/>
            <a:ext cx="1687800" cy="27021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70" name="Google Shape;70;p10"/>
          <p:cNvSpPr>
            <a:spLocks noGrp="1"/>
          </p:cNvSpPr>
          <p:nvPr>
            <p:ph type="pic" idx="4"/>
          </p:nvPr>
        </p:nvSpPr>
        <p:spPr>
          <a:xfrm>
            <a:off x="4611875" y="1080057"/>
            <a:ext cx="1687800" cy="27021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71" name="Google Shape;71;p10"/>
          <p:cNvSpPr>
            <a:spLocks noGrp="1"/>
          </p:cNvSpPr>
          <p:nvPr>
            <p:ph type="pic" idx="5"/>
          </p:nvPr>
        </p:nvSpPr>
        <p:spPr>
          <a:xfrm>
            <a:off x="6378350" y="1080057"/>
            <a:ext cx="1687800" cy="27021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72" name="Google Shape;72;p10"/>
          <p:cNvSpPr txBox="1">
            <a:spLocks noGrp="1"/>
          </p:cNvSpPr>
          <p:nvPr>
            <p:ph type="subTitle" idx="6"/>
          </p:nvPr>
        </p:nvSpPr>
        <p:spPr>
          <a:xfrm>
            <a:off x="3456300" y="3832200"/>
            <a:ext cx="22314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Images">
  <p:cSld name="SECTION_HEADER_1_2_2_1_1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>
            <a:spLocks noGrp="1"/>
          </p:cNvSpPr>
          <p:nvPr>
            <p:ph type="pic" idx="2"/>
          </p:nvPr>
        </p:nvSpPr>
        <p:spPr>
          <a:xfrm>
            <a:off x="1077850" y="1080000"/>
            <a:ext cx="3455400" cy="27021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77" name="Google Shape;77;p11"/>
          <p:cNvSpPr txBox="1">
            <a:spLocks noGrp="1"/>
          </p:cNvSpPr>
          <p:nvPr>
            <p:ph type="subTitle" idx="3"/>
          </p:nvPr>
        </p:nvSpPr>
        <p:spPr>
          <a:xfrm>
            <a:off x="3456300" y="3832200"/>
            <a:ext cx="22314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>
            <a:spLocks noGrp="1"/>
          </p:cNvSpPr>
          <p:nvPr>
            <p:ph type="pic" idx="4"/>
          </p:nvPr>
        </p:nvSpPr>
        <p:spPr>
          <a:xfrm>
            <a:off x="4608600" y="1080000"/>
            <a:ext cx="3455400" cy="27021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Page">
  <p:cSld name="SECTION_HEADER_1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81" name="Google Shape;81;p12"/>
          <p:cNvSpPr txBox="1">
            <a:spLocks noGrp="1"/>
          </p:cNvSpPr>
          <p:nvPr>
            <p:ph type="subTitle" idx="1"/>
          </p:nvPr>
        </p:nvSpPr>
        <p:spPr>
          <a:xfrm>
            <a:off x="1081220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>
            <a:off x="1080000" y="1073000"/>
            <a:ext cx="6984000" cy="325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title" idx="2"/>
          </p:nvPr>
        </p:nvSpPr>
        <p:spPr>
          <a:xfrm>
            <a:off x="1080000" y="1570550"/>
            <a:ext cx="2223600" cy="660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 idx="3"/>
          </p:nvPr>
        </p:nvSpPr>
        <p:spPr>
          <a:xfrm>
            <a:off x="3460200" y="1570550"/>
            <a:ext cx="2223600" cy="660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title" idx="4"/>
          </p:nvPr>
        </p:nvSpPr>
        <p:spPr>
          <a:xfrm>
            <a:off x="5840400" y="1570550"/>
            <a:ext cx="2223600" cy="660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>
            <a:spLocks noGrp="1"/>
          </p:cNvSpPr>
          <p:nvPr>
            <p:ph type="pic" idx="5"/>
          </p:nvPr>
        </p:nvSpPr>
        <p:spPr>
          <a:xfrm>
            <a:off x="1081225" y="2230925"/>
            <a:ext cx="2223600" cy="12357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87" name="Google Shape;87;p12"/>
          <p:cNvSpPr>
            <a:spLocks noGrp="1"/>
          </p:cNvSpPr>
          <p:nvPr>
            <p:ph type="pic" idx="6"/>
          </p:nvPr>
        </p:nvSpPr>
        <p:spPr>
          <a:xfrm>
            <a:off x="3460200" y="2230925"/>
            <a:ext cx="2223600" cy="12357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88" name="Google Shape;88;p12"/>
          <p:cNvSpPr>
            <a:spLocks noGrp="1"/>
          </p:cNvSpPr>
          <p:nvPr>
            <p:ph type="pic" idx="7"/>
          </p:nvPr>
        </p:nvSpPr>
        <p:spPr>
          <a:xfrm>
            <a:off x="5839175" y="2230925"/>
            <a:ext cx="2223600" cy="12357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89" name="Google Shape;89;p12"/>
          <p:cNvSpPr txBox="1">
            <a:spLocks noGrp="1"/>
          </p:cNvSpPr>
          <p:nvPr>
            <p:ph type="title" idx="8"/>
          </p:nvPr>
        </p:nvSpPr>
        <p:spPr>
          <a:xfrm>
            <a:off x="1080000" y="3638375"/>
            <a:ext cx="2223600" cy="501600"/>
          </a:xfrm>
          <a:prstGeom prst="rect">
            <a:avLst/>
          </a:prstGeom>
          <a:solidFill>
            <a:srgbClr val="D2D2D2"/>
          </a:solidFill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title" idx="9"/>
          </p:nvPr>
        </p:nvSpPr>
        <p:spPr>
          <a:xfrm>
            <a:off x="3460200" y="3638375"/>
            <a:ext cx="2223600" cy="501600"/>
          </a:xfrm>
          <a:prstGeom prst="rect">
            <a:avLst/>
          </a:prstGeom>
          <a:solidFill>
            <a:srgbClr val="D2D2D2"/>
          </a:solidFill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 idx="13"/>
          </p:nvPr>
        </p:nvSpPr>
        <p:spPr>
          <a:xfrm>
            <a:off x="5840400" y="3638375"/>
            <a:ext cx="2223600" cy="501600"/>
          </a:xfrm>
          <a:prstGeom prst="rect">
            <a:avLst/>
          </a:prstGeom>
          <a:solidFill>
            <a:srgbClr val="D2D2D2"/>
          </a:solidFill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Helvetica Neue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Page 2" type="tx">
  <p:cSld name="TITLE_AND_BOD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94" name="Google Shape;94;p13" title="4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330"/>
              </a:buClr>
              <a:buSzPts val="2200"/>
              <a:buFont typeface="Helvetica Neue"/>
              <a:buNone/>
              <a:defRPr sz="2200" b="1">
                <a:solidFill>
                  <a:srgbClr val="9D533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351292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9D53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Marni 2026, All rights reserved</a:t>
            </a:r>
            <a:endParaRPr sz="600">
              <a:solidFill>
                <a:srgbClr val="9D53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77325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August 26</a:t>
            </a:r>
            <a:endParaRPr sz="600">
              <a:solidFill>
                <a:srgbClr val="9D533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Page 1">
  <p:cSld name="TITLE_AND_BODY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01" name="Google Shape;101;p14" title="4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>
            <a:spLocks noGrp="1"/>
          </p:cNvSpPr>
          <p:nvPr>
            <p:ph type="sldNum" idx="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3351292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9D53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Marni 2026, All rights reserved</a:t>
            </a:r>
            <a:endParaRPr sz="600">
              <a:solidFill>
                <a:srgbClr val="9D53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77325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9D533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August 26</a:t>
            </a:r>
            <a:endParaRPr sz="600">
              <a:solidFill>
                <a:srgbClr val="9D533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5" name="Google Shape;105;p14"/>
          <p:cNvSpPr txBox="1">
            <a:spLocks noGrp="1"/>
          </p:cNvSpPr>
          <p:nvPr>
            <p:ph type="subTitle" idx="1"/>
          </p:nvPr>
        </p:nvSpPr>
        <p:spPr>
          <a:xfrm>
            <a:off x="1080000" y="2046550"/>
            <a:ext cx="698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330"/>
              </a:buClr>
              <a:buSzPts val="2200"/>
              <a:buFont typeface="Helvetica Neue"/>
              <a:buNone/>
              <a:defRPr sz="2200" b="1">
                <a:solidFill>
                  <a:srgbClr val="9D533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4C09"/>
              </a:buClr>
              <a:buSzPts val="2800"/>
              <a:buFont typeface="Helvetica Neue"/>
              <a:buNone/>
              <a:defRPr sz="2800" b="1">
                <a:solidFill>
                  <a:srgbClr val="9B4C0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1080000" y="1720750"/>
            <a:ext cx="6984000" cy="32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9D5330"/>
              </a:buClr>
              <a:buSzPts val="1000"/>
              <a:buNone/>
              <a:defRPr sz="1000">
                <a:solidFill>
                  <a:srgbClr val="9D533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Page 2">
  <p:cSld name="TITLE_AND_BODY_1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09" name="Google Shape;109;p15" title="1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>
            <a:spLocks noGrp="1"/>
          </p:cNvSpPr>
          <p:nvPr>
            <p:ph type="sldNum" idx="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351292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Marni 2026, All rights reserved</a:t>
            </a:r>
            <a:endParaRPr sz="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77325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August 26</a:t>
            </a:r>
            <a:endParaRPr sz="6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ubTitle" idx="1"/>
          </p:nvPr>
        </p:nvSpPr>
        <p:spPr>
          <a:xfrm>
            <a:off x="1080000" y="2046550"/>
            <a:ext cx="698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Helvetica Neue"/>
              <a:buNone/>
              <a:defRPr sz="2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None/>
              <a:defRPr sz="2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None/>
              <a:defRPr sz="2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None/>
              <a:defRPr sz="2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None/>
              <a:defRPr sz="2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None/>
              <a:defRPr sz="2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None/>
              <a:defRPr sz="2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None/>
              <a:defRPr sz="2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None/>
              <a:defRPr sz="2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1080000" y="1720750"/>
            <a:ext cx="6984000" cy="32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Page 3">
  <p:cSld name="TITLE_AND_BODY_1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17" name="Google Shape;117;p16" title="1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>
            <a:spLocks noGrp="1"/>
          </p:cNvSpPr>
          <p:nvPr>
            <p:ph type="subTitle" idx="1"/>
          </p:nvPr>
        </p:nvSpPr>
        <p:spPr>
          <a:xfrm>
            <a:off x="1080000" y="2046550"/>
            <a:ext cx="698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1080000" y="1720750"/>
            <a:ext cx="6984000" cy="32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ldNum" idx="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351292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Marni 2026, All rights reserved</a:t>
            </a:r>
            <a:endParaRPr sz="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177325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August 26</a:t>
            </a:r>
            <a:endParaRPr sz="6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o Page">
  <p:cSld name="SECTION_HEADER_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title="4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5010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None/>
              <a:defRPr sz="22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3351292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Marni 2026, All rights reserved</a:t>
            </a:r>
            <a:endParaRPr sz="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177325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August 26</a:t>
            </a:r>
            <a:endParaRPr sz="6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title="3.jp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Medium"/>
              <a:buNone/>
              <a:defRPr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Medium"/>
              <a:buNone/>
              <a:defRPr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Medium"/>
              <a:buNone/>
              <a:defRPr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Medium"/>
              <a:buNone/>
              <a:defRPr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Medium"/>
              <a:buNone/>
              <a:defRPr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Medium"/>
              <a:buNone/>
              <a:defRPr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Medium"/>
              <a:buNone/>
              <a:defRPr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Medium"/>
              <a:buNone/>
              <a:defRPr sz="2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  <a:defRPr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Char char="○"/>
              <a:defRPr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■"/>
              <a:def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Char char="●"/>
              <a:defRPr sz="1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Char char="○"/>
              <a:defRPr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 Light"/>
              <a:buChar char="■"/>
              <a:defRPr sz="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lvl="6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Char char="●"/>
              <a:defRPr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Char char="○"/>
              <a:defRPr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Char char="■"/>
              <a:defRPr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40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351292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Marni 2026, All rights reserved</a:t>
            </a:r>
            <a:endParaRPr sz="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77325" y="4740597"/>
            <a:ext cx="2441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August 26</a:t>
            </a:r>
            <a:endParaRPr sz="6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1">
          <p15:clr>
            <a:srgbClr val="E46962"/>
          </p15:clr>
        </p15:guide>
        <p15:guide id="2" orient="horz" pos="2608">
          <p15:clr>
            <a:srgbClr val="E46962"/>
          </p15:clr>
        </p15:guide>
        <p15:guide id="3" orient="horz" pos="680">
          <p15:clr>
            <a:srgbClr val="E46962"/>
          </p15:clr>
        </p15:guide>
        <p15:guide id="4" pos="680">
          <p15:clr>
            <a:srgbClr val="E46962"/>
          </p15:clr>
        </p15:guide>
        <p15:guide id="5" pos="5080">
          <p15:clr>
            <a:srgbClr val="E46962"/>
          </p15:clr>
        </p15:guide>
      </p15:sldGuideLst>
    </p:ext>
  </p:extLst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2516850" y="4015575"/>
            <a:ext cx="4110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2026年 上期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売上レビュー</a:t>
            </a:r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latin typeface="Helvetica Neue"/>
                <a:ea typeface="Helvetica Neue"/>
                <a:cs typeface="Helvetica Neue"/>
                <a:sym typeface="Helvetica Neue"/>
              </a:rPr>
              <a:t>0.0</a:t>
            </a:r>
            <a:endParaRPr sz="22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9"/>
          <p:cNvSpPr txBox="1">
            <a:spLocks noGrp="1"/>
          </p:cNvSpPr>
          <p:nvPr>
            <p:ph type="subTitle" idx="1"/>
          </p:nvPr>
        </p:nvSpPr>
        <p:spPr>
          <a:xfrm>
            <a:off x="1080000" y="1080000"/>
            <a:ext cx="559500" cy="30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1.0</a:t>
            </a:r>
            <a:endParaRPr sz="1600"/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2.0</a:t>
            </a:r>
            <a:endParaRPr sz="1600"/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3.0</a:t>
            </a:r>
            <a:endParaRPr sz="1600"/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4.0</a:t>
            </a:r>
            <a:endParaRPr sz="1600"/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5.0</a:t>
            </a:r>
            <a:endParaRPr sz="1600"/>
          </a:p>
        </p:txBody>
      </p:sp>
      <p:sp>
        <p:nvSpPr>
          <p:cNvPr id="143" name="Google Shape;143;p19"/>
          <p:cNvSpPr txBox="1">
            <a:spLocks noGrp="1"/>
          </p:cNvSpPr>
          <p:nvPr>
            <p:ph type="subTitle" idx="1"/>
          </p:nvPr>
        </p:nvSpPr>
        <p:spPr>
          <a:xfrm>
            <a:off x="1995500" y="1080000"/>
            <a:ext cx="5161800" cy="30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/>
              <a:t>サマリー — 上期の着地と結論</a:t>
            </a:r>
            <a:endParaRPr sz="1600" b="0"/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/>
              <a:t>売上の構造 — 何が売上を動かしたか</a:t>
            </a:r>
            <a:endParaRPr sz="1600" b="0"/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/>
              <a:t>店舗ポートフォリオ</a:t>
            </a:r>
            <a:endParaRPr sz="1600" b="0"/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/>
              <a:t>顧客と商品</a:t>
            </a:r>
            <a:endParaRPr sz="1600" b="0"/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/>
              <a:t>経営として決めるべきこと</a:t>
            </a:r>
            <a:endParaRPr sz="1600" b="0"/>
          </a:p>
        </p:txBody>
      </p:sp>
      <p:sp>
        <p:nvSpPr>
          <p:cNvPr id="144" name="Google Shape;144;p19"/>
          <p:cNvSpPr txBox="1">
            <a:spLocks noGrp="1"/>
          </p:cNvSpPr>
          <p:nvPr>
            <p:ph type="subTitle" idx="1"/>
          </p:nvPr>
        </p:nvSpPr>
        <p:spPr>
          <a:xfrm>
            <a:off x="7504500" y="1080000"/>
            <a:ext cx="559500" cy="30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/>
              <a:t>03</a:t>
            </a:r>
            <a:endParaRPr sz="1600" b="0"/>
          </a:p>
          <a:p>
            <a:pPr marL="0" lvl="0" indent="0" algn="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/>
              <a:t>07</a:t>
            </a:r>
            <a:endParaRPr sz="1600" b="0"/>
          </a:p>
          <a:p>
            <a:pPr marL="0" lvl="0" indent="0" algn="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/>
              <a:t>12</a:t>
            </a:r>
            <a:endParaRPr sz="1600" b="0"/>
          </a:p>
          <a:p>
            <a:pPr marL="0" lvl="0" indent="0" algn="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/>
              <a:t>16</a:t>
            </a:r>
            <a:endParaRPr sz="1600" b="0"/>
          </a:p>
          <a:p>
            <a:pPr marL="0" lvl="0" indent="0" algn="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/>
              <a:t>23</a:t>
            </a:r>
            <a:endParaRPr sz="1600" b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サマリー — 上期の着地と結論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latin typeface="Helvetica Neue"/>
                <a:ea typeface="Helvetica Neue"/>
                <a:cs typeface="Helvetica Neue"/>
                <a:sym typeface="Helvetica Neue"/>
              </a:rPr>
              <a:t>1.0</a:t>
            </a:r>
            <a:endParaRPr sz="22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上期売上は前年並み。ただし客数は二桁減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1.1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69860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0000"/>
                </a:solidFill>
                <a:latin typeface="Helvetica Neue"/>
              </a:rPr>
              <a:t>コレクション26ドア、2026年1〜6月累計、対前年比較（予算データは非搭載）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78992" y="1792224"/>
            <a:ext cx="1629918" cy="1737360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243584" y="1956816"/>
            <a:ext cx="1300734" cy="5943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Helvetica Neue"/>
              </a:rPr>
              <a:t>+0.3%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243584" y="2596896"/>
            <a:ext cx="130073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Net売上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243584" y="2916936"/>
            <a:ext cx="1300734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FFFFFF"/>
                </a:solidFill>
                <a:latin typeface="Helvetica Neue"/>
              </a:rPr>
              <a:t>2,223百万円（前年 2,216百万円）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864358" y="1792224"/>
            <a:ext cx="1629918" cy="17373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028950" y="1956816"/>
            <a:ext cx="1300734" cy="5943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</a:rPr>
              <a:t>-10.8%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028950" y="2596896"/>
            <a:ext cx="130073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客数（TR）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028950" y="2916936"/>
            <a:ext cx="1300734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FFFFFF"/>
                </a:solidFill>
                <a:latin typeface="Helvetica Neue"/>
              </a:rPr>
              <a:t>15,609件（前年 17,496件）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649724" y="1792224"/>
            <a:ext cx="1629918" cy="1737360"/>
          </a:xfrm>
          <a:prstGeom prst="rect">
            <a:avLst/>
          </a:prstGeom>
          <a:solidFill>
            <a:srgbClr val="9D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814316" y="1956816"/>
            <a:ext cx="1300734" cy="5943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Helvetica Neue"/>
              </a:rPr>
              <a:t>+12.4%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814316" y="2596896"/>
            <a:ext cx="130073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客単価（ATV）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14316" y="2916936"/>
            <a:ext cx="1300734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FFFFFF"/>
                </a:solidFill>
                <a:latin typeface="Helvetica Neue"/>
              </a:rPr>
              <a:t>142,415円（前年 126,654円）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435090" y="1792224"/>
            <a:ext cx="1629918" cy="1737360"/>
          </a:xfrm>
          <a:prstGeom prst="rect">
            <a:avLst/>
          </a:prstGeom>
          <a:solidFill>
            <a:srgbClr val="402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599681" y="1956816"/>
            <a:ext cx="1300734" cy="5943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Helvetica Neue"/>
              </a:rPr>
              <a:t>-1.4%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599681" y="2596896"/>
            <a:ext cx="130073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既存店売上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599681" y="2916936"/>
            <a:ext cx="1300734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FFFFFF"/>
                </a:solidFill>
                <a:latin typeface="Helvetica Neue"/>
              </a:rPr>
              <a:t>新店の渋谷パルコ1Fを除く25ドア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結論 — 増収に見えるが、実態は減収である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1.2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69860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0000"/>
                </a:solidFill>
                <a:latin typeface="Helvetica Neue"/>
              </a:rPr>
              <a:t>上期の+0.3%は、新店の寄与と単価上昇で客数減を覆い隠した結果である。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78992" y="1837943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280160" y="1792224"/>
            <a:ext cx="6784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1. 前年並みの着地は新店による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280160" y="2066543"/>
            <a:ext cx="6784848" cy="472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全社+0.3%には2025年5月開業の渋谷パルコ1F（+347.9%）が含まれる。これを除く既存25ドアでは売上-1.4%、客数-12.9%。既存事業は縮小している。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78992" y="2621280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280160" y="2575560"/>
            <a:ext cx="6784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2. 客数減を単価上昇で相殺した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280160" y="2849880"/>
            <a:ext cx="6784848" cy="472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客数は前年比-1,887件。売上ベースで-239百万円の押し下げ要因。これを客単価+15,761円＝+246百万円で埋め、差し引き+7百万円で着地した。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78992" y="3404616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280160" y="3358896"/>
            <a:ext cx="6784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3. 中身はセール依存と基盤の毀損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280160" y="3633216"/>
            <a:ext cx="6784848" cy="472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プロパー売上は-114百万円、セール売上は+121百万円。売上の維持はセールが担った。2025年に購入した顧客の大半が上期に再購入せず、失った売上は30.5億円にのぼる。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1" name="Google Shape;201;p25"/>
          <p:cNvSpPr txBox="1">
            <a:spLocks noGrp="1"/>
          </p:cNvSpPr>
          <p:nvPr>
            <p:ph type="sldNum" idx="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2" name="Google Shape;202;p25"/>
          <p:cNvSpPr txBox="1">
            <a:spLocks noGrp="1"/>
          </p:cNvSpPr>
          <p:nvPr>
            <p:ph type="subTitle" idx="1"/>
          </p:nvPr>
        </p:nvSpPr>
        <p:spPr>
          <a:xfrm>
            <a:off x="1080000" y="1724600"/>
            <a:ext cx="6984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「客数で失った239百万円を、単価で取り返した246百万円。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差し引き+7百万円が上期の着地である。」</a:t>
            </a:r>
            <a:endParaRPr/>
          </a:p>
        </p:txBody>
      </p:sp>
      <p:sp>
        <p:nvSpPr>
          <p:cNvPr id="203" name="Google Shape;203;p25"/>
          <p:cNvSpPr txBox="1">
            <a:spLocks noGrp="1"/>
          </p:cNvSpPr>
          <p:nvPr>
            <p:ph type="title"/>
          </p:nvPr>
        </p:nvSpPr>
        <p:spPr>
          <a:xfrm>
            <a:off x="1080000" y="1398800"/>
            <a:ext cx="69840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上期の総括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6" name="Google Shape;156;p21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7" name="Google Shape;157;p21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売上の構造 — 何が売上を動かしたか</a:t>
            </a:r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rgbClr val="9D53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2.0</a:t>
            </a:r>
            <a:endParaRPr sz="2200">
              <a:solidFill>
                <a:srgbClr val="9D53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売上増減の正体は、客数減と単価増の相殺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2.1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201168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Net売上＝客数（TR）×客単価（ATV）で分解した。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客数は17,496→15,609件（-10.8%）。前年の単価で換算すると-239百万円の押し下げ。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客単価は126,654→142,415円（+12.4%）。当年の客数で換算すると+246百万円の押し上げ。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結果として+7百万円（+0.3%）で着地した。増収ではなく、相殺の結果である。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※入店客数のデータが無いため、客数減が「来店減」か「転換率低下」かは切り分けられない。</a:t>
            </a:r>
          </a:p>
        </p:txBody>
      </p:sp>
      <p:graphicFrame>
        <p:nvGraphicFramePr>
          <p:cNvPr id="170" name="Chart 169"/>
          <p:cNvGraphicFramePr>
            <a:graphicFrameLocks noGrp="1"/>
          </p:cNvGraphicFramePr>
          <p:nvPr/>
        </p:nvGraphicFramePr>
        <p:xfrm>
          <a:off x="3364991" y="1078992"/>
          <a:ext cx="4700016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1" name="TextBox 170"/>
          <p:cNvSpPr txBox="1"/>
          <p:nvPr/>
        </p:nvSpPr>
        <p:spPr>
          <a:xfrm>
            <a:off x="1078992" y="4096512"/>
            <a:ext cx="6986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787878"/>
                </a:solidFill>
                <a:latin typeface="Helvetica Neue"/>
              </a:rPr>
              <a:t>出典: 店長会 2026H1 レビュー資料（データソース: 202501-12.xlsx / 202601-12.xlsx Export シート）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単価上昇の8割は1点単価の上昇によるもの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2.2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201168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客単価の押し上げ+246百万円を、さらに買上点数と1点単価に分けた。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1点単価（AP）は100,610→110,118円（+9.5%）で+191百万円。全体の8割を占める。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買上点数（UPT）は1.26→1.29（+2.7%）で+47百万円にとどまる。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つまり単価上昇の主因は「1人がたくさん買った」ではなく「高い商品が売れた」。数量は-8.3%と減っており、値上げと商品ミックスの変化に支えられた構造である。</a:t>
            </a:r>
          </a:p>
        </p:txBody>
      </p:sp>
      <p:graphicFrame>
        <p:nvGraphicFramePr>
          <p:cNvPr id="170" name="Chart 169"/>
          <p:cNvGraphicFramePr>
            <a:graphicFrameLocks noGrp="1"/>
          </p:cNvGraphicFramePr>
          <p:nvPr/>
        </p:nvGraphicFramePr>
        <p:xfrm>
          <a:off x="3364991" y="1078992"/>
          <a:ext cx="4700016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1" name="TextBox 170"/>
          <p:cNvSpPr txBox="1"/>
          <p:nvPr/>
        </p:nvSpPr>
        <p:spPr>
          <a:xfrm>
            <a:off x="1078992" y="4096512"/>
            <a:ext cx="6986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787878"/>
                </a:solidFill>
                <a:latin typeface="Helvetica Neue"/>
              </a:rPr>
              <a:t>出典: 店長会 2026H1 レビュー資料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売上を維持したのはセール。プロパーは減っている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2.3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201168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プロパー売上は-114百万円（-6.0%）、セール売上は+121百万円（+36.3%）。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セール構成比は15.0%→20.4%へ5.4pt上昇した。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重要なのは平均値引率が39.7%で横ばいという点である。値引きを深くしたのではなく、セール対象として売れた「量」が増えた。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定価で売る力が落ち、その穴をセールが埋めた——これが+0.3%の中身である。</a:t>
            </a:r>
          </a:p>
        </p:txBody>
      </p:sp>
      <p:graphicFrame>
        <p:nvGraphicFramePr>
          <p:cNvPr id="170" name="Chart 169"/>
          <p:cNvGraphicFramePr>
            <a:graphicFrameLocks noGrp="1"/>
          </p:cNvGraphicFramePr>
          <p:nvPr/>
        </p:nvGraphicFramePr>
        <p:xfrm>
          <a:off x="3364991" y="1078992"/>
          <a:ext cx="4700016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1" name="TextBox 170"/>
          <p:cNvSpPr txBox="1"/>
          <p:nvPr/>
        </p:nvSpPr>
        <p:spPr>
          <a:xfrm>
            <a:off x="1078992" y="4096512"/>
            <a:ext cx="6986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787878"/>
                </a:solidFill>
                <a:latin typeface="Helvetica Neue"/>
              </a:rPr>
              <a:t>出典: 店長会 2026H1 レビュー資料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プロパー月は苦戦、セール月に支えられた上期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2.4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201168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月次で見ると、セール月である1月（+8.7%）と6月（+2.1%）はプラス。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一方でプロパー月は2月-3.1%、3月-0.1%、4月-10.4%と苦戦し、4月が上期で最も悪い月となった。5月のみ+2.6%。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セール月に伸ばし、プロパー月に落とす。前ページの「セール依存」が月次でも裏づけられる。</a:t>
            </a:r>
          </a:p>
        </p:txBody>
      </p:sp>
      <p:graphicFrame>
        <p:nvGraphicFramePr>
          <p:cNvPr id="170" name="Chart 169"/>
          <p:cNvGraphicFramePr>
            <a:graphicFrameLocks noGrp="1"/>
          </p:cNvGraphicFramePr>
          <p:nvPr/>
        </p:nvGraphicFramePr>
        <p:xfrm>
          <a:off x="3364991" y="1078992"/>
          <a:ext cx="4700016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1" name="TextBox 170"/>
          <p:cNvSpPr txBox="1"/>
          <p:nvPr/>
        </p:nvSpPr>
        <p:spPr>
          <a:xfrm>
            <a:off x="1078992" y="4096512"/>
            <a:ext cx="6986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787878"/>
                </a:solidFill>
                <a:latin typeface="Helvetica Neue"/>
              </a:rPr>
              <a:t>出典: 店長会 2026H1 レビュー資料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店舗ポートフォリオ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latin typeface="Helvetica Neue"/>
                <a:ea typeface="Helvetica Neue"/>
                <a:cs typeface="Helvetica Neue"/>
                <a:sym typeface="Helvetica Neue"/>
              </a:rPr>
              <a:t>3.0</a:t>
            </a:r>
            <a:endParaRPr sz="22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上位と下位の差は70pt。二極化が進んでいる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3.1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201168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26ドア中、増収は11店、減収は14店（新店の渋谷パルコ1Fを除く）。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伸びた店には共通点がある。梅田阪急ドンナは店長交代、心斎橋大丸と大阪高島屋は改装後。この3店だけが客数もプラスを維持した。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落ちた店はACC（アクセサリー）業態と、店舗環境に課題を抱える店に集中している。京都BALは-38.6%で、原資料でも存続の判断が必要と指摘されている。</a:t>
            </a:r>
          </a:p>
        </p:txBody>
      </p:sp>
      <p:graphicFrame>
        <p:nvGraphicFramePr>
          <p:cNvPr id="170" name="Chart 169"/>
          <p:cNvGraphicFramePr>
            <a:graphicFrameLocks noGrp="1"/>
          </p:cNvGraphicFramePr>
          <p:nvPr/>
        </p:nvGraphicFramePr>
        <p:xfrm>
          <a:off x="3364991" y="1078992"/>
          <a:ext cx="4700016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1" name="TextBox 170"/>
          <p:cNvSpPr txBox="1"/>
          <p:nvPr/>
        </p:nvSpPr>
        <p:spPr>
          <a:xfrm>
            <a:off x="1078992" y="4096512"/>
            <a:ext cx="6986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787878"/>
                </a:solidFill>
                <a:latin typeface="Helvetica Neue"/>
              </a:rPr>
              <a:t>出典: 店長会 2026H1 レビュー資料。上位5店・下位3店を抜粋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要注意店舗 — 客数と定価売上の両方が落ちている店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3.2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69" name="Table 168"/>
          <p:cNvGraphicFramePr>
            <a:graphicFrameLocks noGrp="1"/>
          </p:cNvGraphicFramePr>
          <p:nvPr/>
        </p:nvGraphicFramePr>
        <p:xfrm>
          <a:off x="1078992" y="1078992"/>
          <a:ext cx="6986016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203"/>
                <a:gridCol w="1397203"/>
                <a:gridCol w="1397203"/>
                <a:gridCol w="1397203"/>
                <a:gridCol w="1397204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店舗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Net売上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客数（TR）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プロパー売上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主な論点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京都BAL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-38.6%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-43.4%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-43.2%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存続の判断が必要（原資料に明記）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京都伊勢丹ACC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-24.9%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-26.9%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-29.2%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ACC業態。人員6→9名でも回復せず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渋谷スクランブル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-20.8%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-28.2%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-28.7%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新規客-19.1%。集客が止まっている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銀座三越ACC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-15.1%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-17.2%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-32.3%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ACC業態。セール構成比24.9%へ悪化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新宿伊勢丹GF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-14.3%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-9.8%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-26.9%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ACC業態。客単価も-5.1%で二重減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名古屋ラシック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-10.1%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-21.4%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-13.0%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新規客-21.9%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表参道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-8.2%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-20.3%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-16.6%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旗艦店。新規客-20.5%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26ドアは4つの型に分かれる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3.3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6986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0000"/>
                </a:solidFill>
                <a:latin typeface="Helvetica Neue"/>
              </a:rPr>
              <a:t>客数と客単価の増減で分類すると、店舗の課題が型として見えてくる。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78992" y="1563624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280160" y="1517904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客数増・単価増（3店）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280160" y="1792224"/>
            <a:ext cx="3108959" cy="1001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梅田阪急ドンナ、心斎橋大丸、大阪高島屋。店長交代と改装が効いた。横展開すべき成功事例。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78992" y="2875787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280160" y="2830068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客数減・単価増（20店）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280160" y="3104387"/>
            <a:ext cx="3108959" cy="1001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大半がここ。単価で客数減を埋めている多数派。単価上昇が止まった瞬間に減収に転じるため、最も注意が必要な型。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754879" y="1563624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956047" y="1517904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客数減・単価減（2店）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956047" y="1792224"/>
            <a:ext cx="3108959" cy="1001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梅田阪急ACC、新宿伊勢丹GF。いずれもACC業態で、単価による埋め合わせが効いていない。業態自体の見直しが要る。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754879" y="2875787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56047" y="2830068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客数増・単価減（0店）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56047" y="3104387"/>
            <a:ext cx="3108959" cy="1001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該当なし。値下げで客数を取りにいった店は存在しない。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6" name="Google Shape;156;p21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7" name="Google Shape;157;p21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顧客と商品</a:t>
            </a:r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rgbClr val="9D53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4.0</a:t>
            </a:r>
            <a:endParaRPr sz="2200">
              <a:solidFill>
                <a:srgbClr val="9D53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客数減の正体は新規客。既存客は微増している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4.1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201168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客数-1,887件の内訳を見ると、既存顧客は+97件と微増。減っているのは新規顧客-1,369件と非登録-615件である。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既存顧客は売上+12.3%、客単価183,850円と好調。一方で新規顧客は顧客数-12.7%、売上-3.5%。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既存客の育成は機能している。止まっているのは新規客の獲得である。</a:t>
            </a:r>
          </a:p>
        </p:txBody>
      </p:sp>
      <p:graphicFrame>
        <p:nvGraphicFramePr>
          <p:cNvPr id="170" name="Chart 169"/>
          <p:cNvGraphicFramePr>
            <a:graphicFrameLocks noGrp="1"/>
          </p:cNvGraphicFramePr>
          <p:nvPr/>
        </p:nvGraphicFramePr>
        <p:xfrm>
          <a:off x="3364991" y="1078992"/>
          <a:ext cx="4700016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1" name="TextBox 170"/>
          <p:cNvSpPr txBox="1"/>
          <p:nvPr/>
        </p:nvSpPr>
        <p:spPr>
          <a:xfrm>
            <a:off x="1078992" y="4096512"/>
            <a:ext cx="6986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787878"/>
                </a:solidFill>
                <a:latin typeface="Helvetica Neue"/>
              </a:rPr>
              <a:t>出典: 店長会 2026H1 レビュー資料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上位客は増え、下位客は減る。顧客の二極化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4.2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201168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半期購入額の階層別に見ると、30万円以上の各層はすべて二桁で顧客数を伸ばしている。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一方で10万円未満は-17.1%、10-30万円は-3.3%。裾野が痩せている。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ただし売上構成比では10-30万円層が40.5%と最大で、10万円未満が20.6%。売上の6割は「減っている層」が支えている。上位客の伸びだけでは代替できない規模である。</a:t>
            </a:r>
          </a:p>
        </p:txBody>
      </p:sp>
      <p:graphicFrame>
        <p:nvGraphicFramePr>
          <p:cNvPr id="170" name="Chart 169"/>
          <p:cNvGraphicFramePr>
            <a:graphicFrameLocks noGrp="1"/>
          </p:cNvGraphicFramePr>
          <p:nvPr/>
        </p:nvGraphicFramePr>
        <p:xfrm>
          <a:off x="3364991" y="1078992"/>
          <a:ext cx="4700016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1" name="TextBox 170"/>
          <p:cNvSpPr txBox="1"/>
          <p:nvPr/>
        </p:nvSpPr>
        <p:spPr>
          <a:xfrm>
            <a:off x="1078992" y="4096512"/>
            <a:ext cx="6986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787878"/>
                </a:solidFill>
                <a:latin typeface="Helvetica Neue"/>
              </a:rPr>
              <a:t>出典: 店長会 2026H1 レビュー資料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2025年の顧客の多くが戻らず、30.5億円を失った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4.3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69" name="Table 168"/>
          <p:cNvGraphicFramePr>
            <a:graphicFrameLocks noGrp="1"/>
          </p:cNvGraphicFramePr>
          <p:nvPr/>
        </p:nvGraphicFramePr>
        <p:xfrm>
          <a:off x="1078992" y="1078992"/>
          <a:ext cx="6986016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203"/>
                <a:gridCol w="1397203"/>
                <a:gridCol w="1397203"/>
                <a:gridCol w="1397203"/>
                <a:gridCol w="1397204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2025年の購入額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対象人数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再購入なし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Lost率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失った売上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10万円未満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13,540人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13,187人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97%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8.99億円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10-30万円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9,660人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8,940人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93%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14.55億円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30-50万円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1,247人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942人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3.51億円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50-100万円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658人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346人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53%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2.29億円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100万円以上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357人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78人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22%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1.17億円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Helvetica Neue"/>
                        </a:rPr>
                        <a:t>合計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25,462人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23,493人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92%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Helvetica Neue"/>
                        </a:rPr>
                        <a:t>30.51億円</a:t>
                      </a:r>
                    </a:p>
                  </a:txBody>
                  <a:tcPr marL="73152" marR="73152" marT="27432" marB="27432" anchor="ctr">
                    <a:solidFill>
                      <a:srgbClr val="E9E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リテンションは改善。ただし上位客だけ悪化している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4.4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6986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0000"/>
                </a:solidFill>
                <a:latin typeface="Helvetica Neue"/>
              </a:rPr>
              <a:t>全体の数字は良くなっているが、最も守るべき層で逆行が起きている。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78992" y="1563624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280160" y="1517904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再購入率 6.6% → 7.7%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280160" y="1792224"/>
            <a:ext cx="3108959" cy="1001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前年購入者のうち上期に再購入した比率。1.1pt改善した。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78992" y="2875787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280160" y="2830068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売上加重リテンション 22.2% → 25.6%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280160" y="3104387"/>
            <a:ext cx="3108959" cy="1001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金額ベースで見た維持率は3.4pt改善。単価の高い顧客が残っている。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754879" y="1563624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956047" y="1517904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50万円以上顧客 61.2% → 58.2%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956047" y="1792224"/>
            <a:ext cx="3108959" cy="1001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唯一悪化した指標。最も守るべき上位客のリテンションが3.0pt低下している。全体の改善に隠れて見えなくなりやすい。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754879" y="2875787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56047" y="2830068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見るべき順序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56047" y="3104387"/>
            <a:ext cx="3108959" cy="1001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全体のリテンション改善を成果と読むのは早い。上位客が抜けた分を、上位に昇格した中間層が埋めている可能性がある。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アパレルが伸び、バッグが落ちる構造転換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4.5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201168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RTW（アパレル）は構成比44.8%→49.8%、売上+11.5%。ジャケット・シャツ・プルオーバーが牽引した。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バッグは-10.7%。プロパーに限ると-23.2%、数量は-28.1%と大きく落ちている。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最大の減少要因はショッピングバッグ単独で-71.3百万円。同カテゴリのハンドバッグは+20.5百万円と伸びており、バッグ全体の不振ではなく特定モデルの問題である可能性が高い。</a:t>
            </a:r>
          </a:p>
        </p:txBody>
      </p:sp>
      <p:graphicFrame>
        <p:nvGraphicFramePr>
          <p:cNvPr id="170" name="Chart 169"/>
          <p:cNvGraphicFramePr>
            <a:graphicFrameLocks noGrp="1"/>
          </p:cNvGraphicFramePr>
          <p:nvPr/>
        </p:nvGraphicFramePr>
        <p:xfrm>
          <a:off x="3364991" y="1078992"/>
          <a:ext cx="4700016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1" name="TextBox 170"/>
          <p:cNvSpPr txBox="1"/>
          <p:nvPr/>
        </p:nvSpPr>
        <p:spPr>
          <a:xfrm>
            <a:off x="1078992" y="4096512"/>
            <a:ext cx="6986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787878"/>
                </a:solidFill>
                <a:latin typeface="Helvetica Neue"/>
              </a:rPr>
              <a:t>出典: 店長会 2026H1 レビュー資料。増減上位の品番グループを抜粋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インバウンドは中国減を米国・台湾が補った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4.6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201168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インバウンド売上は203.7百万円で+2.4%、構成比9.2%。金額は維持している。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ただし取引件数は-17.5%。客単価が+24.1%と大きく伸びたことで金額を保った形で、全社と同じ「客数減・単価増」の構造である。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国別では中国が-40%と大きく落ち、米国+35%・台湾+49%がこれを補った。特定国への依存度は下がったが、母数そのものは細っている。</a:t>
            </a:r>
          </a:p>
        </p:txBody>
      </p:sp>
      <p:graphicFrame>
        <p:nvGraphicFramePr>
          <p:cNvPr id="170" name="Chart 169"/>
          <p:cNvGraphicFramePr>
            <a:graphicFrameLocks noGrp="1"/>
          </p:cNvGraphicFramePr>
          <p:nvPr/>
        </p:nvGraphicFramePr>
        <p:xfrm>
          <a:off x="3364991" y="1078992"/>
          <a:ext cx="4700016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1" name="TextBox 170"/>
          <p:cNvSpPr txBox="1"/>
          <p:nvPr/>
        </p:nvSpPr>
        <p:spPr>
          <a:xfrm>
            <a:off x="1078992" y="4096512"/>
            <a:ext cx="6986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787878"/>
                </a:solidFill>
                <a:latin typeface="Helvetica Neue"/>
              </a:rPr>
              <a:t>出典: 店長会 2026H1 レビュー資料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経営として決めるべきこと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latin typeface="Helvetica Neue"/>
                <a:ea typeface="Helvetica Neue"/>
                <a:cs typeface="Helvetica Neue"/>
                <a:sym typeface="Helvetica Neue"/>
              </a:rPr>
              <a:t>5.0</a:t>
            </a:r>
            <a:endParaRPr sz="22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下期に向けて決めるべき4つの論点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5.1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6986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0000"/>
                </a:solidFill>
                <a:latin typeface="Helvetica Neue"/>
              </a:rPr>
              <a:t>いずれも上期のデータから導かれる、今期中に判断が要るもの。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78992" y="1563624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280160" y="1517904"/>
            <a:ext cx="6784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論点1｜新規客の獲得をどう立て直すか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280160" y="1792224"/>
            <a:ext cx="6784848" cy="345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事実: 客数減の主因は新規客-1,369件。表参道-20.5%、渋谷スクランブル-19.1%と旗艦店で落ちている。／決めること: 新規獲得を店舗任せにするか、本社主導で投資するか。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78992" y="2219706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280160" y="2173986"/>
            <a:ext cx="6784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論点2｜単価依存をいつまで続けるか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280160" y="2448306"/>
            <a:ext cx="6784848" cy="345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事実: 単価上昇の8割は1点単価（+9.5%）によるもので、数量は-8.3%。／決めること: 下期も単価で埋める前提で組むか、客数回復に舵を切るか。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78992" y="2875787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280160" y="2830068"/>
            <a:ext cx="6784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論点3｜バッグ事業をどう扱うか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280160" y="3104387"/>
            <a:ext cx="6784848" cy="345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事実: ショッピングバッグ単独で-71.3百万円。一方ハンドバッグは+20.5百万円。／決めること: RTWシフトを是とするか、バッグを再建対象と位置づけるか。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78992" y="3531870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280160" y="3486150"/>
            <a:ext cx="6784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論点4｜ACC業態と京都BALをどうするか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280160" y="3760470"/>
            <a:ext cx="6784848" cy="345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事実: ACC業態3店はいずれも二桁減、うち2店は客単価も低下。京都BALは-38.6%。／決めること: 業態転換・縮小・撤退の判断時期をいつに置くか。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079995" y="168107"/>
            <a:ext cx="7699248" cy="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この分析の前提と限界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177325" y="162999"/>
            <a:ext cx="70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latin typeface="Helvetica Neue"/>
                <a:ea typeface="Helvetica Neue"/>
                <a:cs typeface="Helvetica Neue"/>
                <a:sym typeface="Helvetica Neue"/>
              </a:rPr>
              <a:t>5.2</a:t>
            </a:r>
            <a:endParaRPr sz="22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078992" y="1078992"/>
            <a:ext cx="69860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0000"/>
                </a:solidFill>
                <a:latin typeface="Helvetica Neue"/>
              </a:rPr>
              <a:t>下期の意思決定の精度を上げるために、埋めるべきデータの穴を明示する。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78992" y="1837943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280160" y="1792224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予算データが無い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280160" y="2066543"/>
            <a:ext cx="3108959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対計画・達成率は算出できていない。本資料の比較はすべて対前年。上期+0.3%が計画に対して良いのか悪いのかは判断できない。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78992" y="3012948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280160" y="2967228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入店客数が測れていない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280160" y="3241548"/>
            <a:ext cx="3108959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客数-10.8%が「来店が減った」のか「来たが買われなかった」のか切り分けられない。トラフィックカウンターは設置状況の管理にとどまっている。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754879" y="1837943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956047" y="1792224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対象は26ドアのみ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956047" y="2066543"/>
            <a:ext cx="3108959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本資料はコレクション26ドア（直営＋コンセ）ベース。MARNI MARKET系・カフェ・アウトレット・オンライン・卸は含まない。上期のMARKET系162百万円を含めると絵が変わる。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754879" y="3012948"/>
            <a:ext cx="82296" cy="82296"/>
          </a:xfrm>
          <a:prstGeom prst="rect">
            <a:avLst/>
          </a:prstGeom>
          <a:solidFill>
            <a:srgbClr val="DA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56047" y="2967228"/>
            <a:ext cx="310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Helvetica Neue"/>
              </a:rPr>
              <a:t>日次データが無い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56047" y="3241548"/>
            <a:ext cx="3108959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Helvetica Neue"/>
              </a:rPr>
              <a:t>DSR相当の日次明細が見当たらず、月次より細かい動きは追えていない。原本の大容量ファイルは今回読み取れていない。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9" name="Google Shape;229;p27"/>
          <p:cNvSpPr txBox="1">
            <a:spLocks noGrp="1"/>
          </p:cNvSpPr>
          <p:nvPr>
            <p:ph type="subTitle" idx="1"/>
          </p:nvPr>
        </p:nvSpPr>
        <p:spPr>
          <a:xfrm>
            <a:off x="2516850" y="4015575"/>
            <a:ext cx="4110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sldNum" idx="12"/>
          </p:nvPr>
        </p:nvSpPr>
        <p:spPr>
          <a:xfrm>
            <a:off x="8113758" y="4740600"/>
            <a:ext cx="8529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画面に合わせる (16:9)</PresentationFormat>
  <Paragraphs>79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Helvetica Neue Light</vt:lpstr>
      <vt:lpstr>Inter Light</vt:lpstr>
      <vt:lpstr>Arial</vt:lpstr>
      <vt:lpstr>Helvetica Neue</vt:lpstr>
      <vt:lpstr>Simple Light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Subtitle</vt:lpstr>
      <vt:lpstr>Click to add Quote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石川 孝幸</dc:creator>
  <cp:lastModifiedBy>孝幸 石川</cp:lastModifiedBy>
  <cp:revision>1</cp:revision>
  <dcterms:modified xsi:type="dcterms:W3CDTF">2026-06-09T08:29:43Z</dcterms:modified>
</cp:coreProperties>
</file>